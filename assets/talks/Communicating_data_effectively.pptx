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73" r:id="rId3"/>
    <p:sldId id="294" r:id="rId4"/>
    <p:sldId id="280" r:id="rId5"/>
    <p:sldId id="282" r:id="rId6"/>
    <p:sldId id="259" r:id="rId7"/>
    <p:sldId id="283" r:id="rId8"/>
    <p:sldId id="284" r:id="rId9"/>
    <p:sldId id="285" r:id="rId10"/>
    <p:sldId id="286" r:id="rId11"/>
    <p:sldId id="291" r:id="rId12"/>
    <p:sldId id="293" r:id="rId13"/>
    <p:sldId id="292" r:id="rId14"/>
    <p:sldId id="295" r:id="rId15"/>
    <p:sldId id="288" r:id="rId16"/>
    <p:sldId id="265" r:id="rId17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19"/>
    </p:embeddedFont>
    <p:embeddedFont>
      <p:font typeface="Poppins Medium" panose="020B0604020202020204" charset="0"/>
      <p:regular r:id="rId20"/>
      <p:bold r:id="rId21"/>
      <p:italic r:id="rId22"/>
      <p:boldItalic r:id="rId23"/>
    </p:embeddedFont>
    <p:embeddedFont>
      <p:font typeface="Poppins" panose="020B0604020202020204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66FF"/>
    <a:srgbClr val="B2B2B2"/>
    <a:srgbClr val="DDDDDD"/>
    <a:srgbClr val="FFFFFF"/>
    <a:srgbClr val="DBDBDB"/>
    <a:srgbClr val="4A439F"/>
    <a:srgbClr val="003300"/>
    <a:srgbClr val="062010"/>
    <a:srgbClr val="33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46" autoAdjust="0"/>
    <p:restoredTop sz="94660"/>
  </p:normalViewPr>
  <p:slideViewPr>
    <p:cSldViewPr snapToGrid="0">
      <p:cViewPr varScale="1">
        <p:scale>
          <a:sx n="95" d="100"/>
          <a:sy n="95" d="100"/>
        </p:scale>
        <p:origin x="186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Chart%20in%20Microsoft%20PowerPoint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100" baseline="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Sources of information used by farmers</a:t>
            </a:r>
          </a:p>
        </c:rich>
      </c:tx>
      <c:layout>
        <c:manualLayout>
          <c:xMode val="edge"/>
          <c:yMode val="edge"/>
          <c:x val="0.40283369473362035"/>
          <c:y val="5.356957374753440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7993476527910915"/>
          <c:y val="0.10284711240886579"/>
          <c:w val="0.66978394424898224"/>
          <c:h val="0.87436933428316455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B2B2B2"/>
            </a:solidFill>
            <a:ln>
              <a:noFill/>
            </a:ln>
            <a:effectLst/>
          </c:spPr>
          <c:invertIfNegative val="0"/>
          <c:dPt>
            <c:idx val="4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0807-42BE-9BBC-D60CC2D5454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'[Chart in Microsoft PowerPoint]Sheet1'!$A$2:$A$12</c:f>
              <c:strCache>
                <c:ptCount val="11"/>
                <c:pt idx="0">
                  <c:v>Radio</c:v>
                </c:pt>
                <c:pt idx="1">
                  <c:v>Fellow farmers</c:v>
                </c:pt>
                <c:pt idx="2">
                  <c:v>Family and friends</c:v>
                </c:pt>
                <c:pt idx="3">
                  <c:v>Farmers’ meetings/forum</c:v>
                </c:pt>
                <c:pt idx="4">
                  <c:v>Television</c:v>
                </c:pt>
                <c:pt idx="5">
                  <c:v>Extension agents</c:v>
                </c:pt>
                <c:pt idx="6">
                  <c:v>Mobile phone</c:v>
                </c:pt>
                <c:pt idx="7">
                  <c:v>Newspaper</c:v>
                </c:pt>
                <c:pt idx="8">
                  <c:v>NGOs</c:v>
                </c:pt>
                <c:pt idx="9">
                  <c:v>Cooperative society</c:v>
                </c:pt>
                <c:pt idx="10">
                  <c:v>The Internet</c:v>
                </c:pt>
              </c:strCache>
            </c:strRef>
          </c:cat>
          <c:val>
            <c:numRef>
              <c:f>'[Chart in Microsoft PowerPoint]Sheet1'!$B$2:$B$12</c:f>
              <c:numCache>
                <c:formatCode>0.0%</c:formatCode>
                <c:ptCount val="11"/>
                <c:pt idx="0">
                  <c:v>0.84299999999999997</c:v>
                </c:pt>
                <c:pt idx="1">
                  <c:v>0.81</c:v>
                </c:pt>
                <c:pt idx="2">
                  <c:v>0.78500000000000003</c:v>
                </c:pt>
                <c:pt idx="3">
                  <c:v>0.70199999999999996</c:v>
                </c:pt>
                <c:pt idx="4">
                  <c:v>0.66100000000000003</c:v>
                </c:pt>
                <c:pt idx="5">
                  <c:v>0.66100000000000003</c:v>
                </c:pt>
                <c:pt idx="6">
                  <c:v>0.46300000000000002</c:v>
                </c:pt>
                <c:pt idx="7">
                  <c:v>0.30599999999999999</c:v>
                </c:pt>
                <c:pt idx="8">
                  <c:v>0.25600000000000001</c:v>
                </c:pt>
                <c:pt idx="9">
                  <c:v>0.25600000000000001</c:v>
                </c:pt>
                <c:pt idx="10">
                  <c:v>0.16500000000000001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07-42BE-9BBC-D60CC2D5454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342517024"/>
        <c:axId val="344638904"/>
      </c:barChart>
      <c:catAx>
        <c:axId val="342517024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44638904"/>
        <c:crosses val="autoZero"/>
        <c:auto val="1"/>
        <c:lblAlgn val="ctr"/>
        <c:lblOffset val="100"/>
        <c:noMultiLvlLbl val="0"/>
      </c:catAx>
      <c:valAx>
        <c:axId val="344638904"/>
        <c:scaling>
          <c:orientation val="minMax"/>
        </c:scaling>
        <c:delete val="1"/>
        <c:axPos val="t"/>
        <c:numFmt formatCode="0.0%" sourceLinked="1"/>
        <c:majorTickMark val="none"/>
        <c:minorTickMark val="none"/>
        <c:tickLblPos val="nextTo"/>
        <c:crossAx val="3425170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100" baseline="0">
          <a:solidFill>
            <a:schemeClr val="tx1">
              <a:lumMod val="75000"/>
              <a:lumOff val="25000"/>
            </a:schemeClr>
          </a:solidFill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733ca95ac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733ca95ac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26930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33ca95ac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33ca95ac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578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33ca95ac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33ca95ac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7547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33ca95ac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33ca95ac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33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148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7995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56649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110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06968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88151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9722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31122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3ca95acf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3ca95acf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37603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733ca95ac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733ca95ac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chart" Target="../charts/char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5038928" y="1359450"/>
            <a:ext cx="4105072" cy="18312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 smtClean="0">
                <a:solidFill>
                  <a:schemeClr val="accent5">
                    <a:lumMod val="50000"/>
                  </a:schemeClr>
                </a:solidFill>
                <a:latin typeface="Poppins"/>
                <a:ea typeface="Poppins"/>
                <a:cs typeface="Poppins"/>
                <a:sym typeface="Poppins"/>
              </a:rPr>
              <a:t>Communicating Data Effectively</a:t>
            </a:r>
            <a:endParaRPr sz="3200" b="1" dirty="0">
              <a:solidFill>
                <a:schemeClr val="accent5">
                  <a:lumMod val="50000"/>
                </a:schemeClr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5445631" y="3347540"/>
            <a:ext cx="3563400" cy="66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 smtClean="0">
                <a:solidFill>
                  <a:schemeClr val="accent5">
                    <a:lumMod val="50000"/>
                  </a:scheme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Adeyinka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J. Oresanya</a:t>
            </a:r>
            <a:endParaRPr sz="1800" dirty="0">
              <a:solidFill>
                <a:schemeClr val="accent5">
                  <a:lumMod val="50000"/>
                </a:schemeClr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5126477" cy="5143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25" y="0"/>
            <a:ext cx="9144000" cy="323700"/>
          </a:xfrm>
          <a:prstGeom prst="rect">
            <a:avLst/>
          </a:prstGeom>
          <a:solidFill>
            <a:srgbClr val="FBF8E9"/>
          </a:solidFill>
          <a:ln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2272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193287" y="510229"/>
            <a:ext cx="29810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About Me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0735" y="1351893"/>
            <a:ext cx="412645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Ph.D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candidate, University of Ibadan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Co-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organiser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,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AISaturdays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 Ibadan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Poppins" panose="020B0604020202020204" charset="0"/>
              <a:cs typeface="Poppins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Poppins" panose="020B0604020202020204" charset="0"/>
                <a:cs typeface="Poppins" panose="020B0604020202020204" charset="0"/>
              </a:rPr>
              <a:t>Microsoft Student Partner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Poppins" panose="020B0604020202020204" charset="0"/>
              <a:cs typeface="Poppins" panose="020B0604020202020204" charset="0"/>
            </a:endParaRPr>
          </a:p>
          <a:p>
            <a:endParaRPr lang="en-US" sz="1600" dirty="0">
              <a:latin typeface="Poppins" panose="020B0604020202020204" charset="0"/>
              <a:cs typeface="Poppins" panose="020B060402020202020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14613" y="2945437"/>
            <a:ext cx="18084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@</a:t>
            </a:r>
            <a:r>
              <a:rPr 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TechieGriot</a:t>
            </a:r>
            <a:endParaRPr lang="en-US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01" y="2969828"/>
            <a:ext cx="265912" cy="19751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4443" y="3233346"/>
            <a:ext cx="19523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</a:t>
            </a:r>
            <a:r>
              <a:rPr 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J. Oresanya</a:t>
            </a:r>
            <a:endParaRPr lang="en-US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701" y="3266323"/>
            <a:ext cx="257946" cy="16596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8701" y="3530217"/>
            <a:ext cx="257946" cy="1936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4443" y="3475498"/>
            <a:ext cx="2694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adeyinkaoresanya@gmail.com</a:t>
            </a:r>
            <a:endParaRPr lang="en-US" sz="1100" dirty="0" smtClean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377" y="636727"/>
            <a:ext cx="3228973" cy="338734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0735" y="3776402"/>
            <a:ext cx="228605" cy="228605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34443" y="3752497"/>
            <a:ext cx="18870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medium.com/data-griot</a:t>
            </a:r>
            <a:endParaRPr 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190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25" y="0"/>
            <a:ext cx="9144000" cy="323700"/>
          </a:xfrm>
          <a:prstGeom prst="rect">
            <a:avLst/>
          </a:prstGeom>
          <a:solidFill>
            <a:srgbClr val="FBF8E9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4553" y="-99760"/>
            <a:ext cx="69204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Human Factors in a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D</a:t>
            </a: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ata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S</a:t>
            </a: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cientist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3642263" y="2142386"/>
            <a:ext cx="1420238" cy="1459149"/>
          </a:xfrm>
          <a:prstGeom prst="ellipse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Curiosity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992222" y="1539310"/>
            <a:ext cx="2334144" cy="1848538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/>
              <a:t>Communication</a:t>
            </a:r>
            <a:endParaRPr lang="en-US" sz="1600" dirty="0"/>
          </a:p>
        </p:txBody>
      </p:sp>
      <p:sp>
        <p:nvSpPr>
          <p:cNvPr id="13" name="Oval 12"/>
          <p:cNvSpPr/>
          <p:nvPr/>
        </p:nvSpPr>
        <p:spPr>
          <a:xfrm>
            <a:off x="2234557" y="3555699"/>
            <a:ext cx="1617646" cy="1551075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Leadership</a:t>
            </a:r>
            <a:endParaRPr lang="en-US" dirty="0"/>
          </a:p>
        </p:txBody>
      </p:sp>
      <p:sp>
        <p:nvSpPr>
          <p:cNvPr id="14" name="Oval 13"/>
          <p:cNvSpPr/>
          <p:nvPr/>
        </p:nvSpPr>
        <p:spPr>
          <a:xfrm>
            <a:off x="4984680" y="3549784"/>
            <a:ext cx="1698222" cy="1503363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Creativity</a:t>
            </a:r>
            <a:endParaRPr lang="en-US" sz="1600" dirty="0"/>
          </a:p>
        </p:txBody>
      </p:sp>
      <p:sp>
        <p:nvSpPr>
          <p:cNvPr id="15" name="Oval 14"/>
          <p:cNvSpPr/>
          <p:nvPr/>
        </p:nvSpPr>
        <p:spPr>
          <a:xfrm>
            <a:off x="3673483" y="339751"/>
            <a:ext cx="1420238" cy="1459149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/>
              <a:t>Empathy</a:t>
            </a:r>
            <a:endParaRPr lang="en-US" sz="1600" dirty="0"/>
          </a:p>
        </p:txBody>
      </p:sp>
      <p:sp>
        <p:nvSpPr>
          <p:cNvPr id="16" name="Oval 15"/>
          <p:cNvSpPr/>
          <p:nvPr/>
        </p:nvSpPr>
        <p:spPr>
          <a:xfrm>
            <a:off x="5739685" y="1818239"/>
            <a:ext cx="1759304" cy="1468277"/>
          </a:xfrm>
          <a:prstGeom prst="ellipse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Imagination</a:t>
            </a:r>
            <a:endParaRPr lang="en-US" dirty="0"/>
          </a:p>
        </p:txBody>
      </p:sp>
      <p:cxnSp>
        <p:nvCxnSpPr>
          <p:cNvPr id="6" name="Straight Connector 5"/>
          <p:cNvCxnSpPr>
            <a:stCxn id="3" idx="3"/>
            <a:endCxn id="13" idx="7"/>
          </p:cNvCxnSpPr>
          <p:nvPr/>
        </p:nvCxnSpPr>
        <p:spPr>
          <a:xfrm flipH="1">
            <a:off x="3615304" y="3387848"/>
            <a:ext cx="234948" cy="395001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>
            <a:endCxn id="3" idx="0"/>
          </p:cNvCxnSpPr>
          <p:nvPr/>
        </p:nvCxnSpPr>
        <p:spPr>
          <a:xfrm flipH="1">
            <a:off x="4352382" y="1818239"/>
            <a:ext cx="31220" cy="324147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5051776" y="2738304"/>
            <a:ext cx="710119" cy="75090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14" idx="1"/>
            <a:endCxn id="3" idx="5"/>
          </p:cNvCxnSpPr>
          <p:nvPr/>
        </p:nvCxnSpPr>
        <p:spPr>
          <a:xfrm flipH="1" flipV="1">
            <a:off x="4854512" y="3387848"/>
            <a:ext cx="378867" cy="382098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>
            <a:stCxn id="3" idx="2"/>
          </p:cNvCxnSpPr>
          <p:nvPr/>
        </p:nvCxnSpPr>
        <p:spPr>
          <a:xfrm flipH="1" flipV="1">
            <a:off x="3288805" y="2738304"/>
            <a:ext cx="353458" cy="133657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099242" y="4956070"/>
            <a:ext cx="363814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 smtClean="0">
                <a:solidFill>
                  <a:schemeClr val="bg2">
                    <a:lumMod val="60000"/>
                    <a:lumOff val="40000"/>
                  </a:schemeClr>
                </a:solidFill>
              </a:rPr>
              <a:t>Source</a:t>
            </a:r>
            <a:r>
              <a:rPr lang="en-US" sz="9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 https://www.youtube.com/watch?v=qrhRfPY4F4w</a:t>
            </a:r>
          </a:p>
        </p:txBody>
      </p:sp>
    </p:spTree>
    <p:extLst>
      <p:ext uri="{BB962C8B-B14F-4D97-AF65-F5344CB8AC3E}">
        <p14:creationId xmlns:p14="http://schemas.microsoft.com/office/powerpoint/2010/main" val="3808974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25" y="0"/>
            <a:ext cx="9144000" cy="323700"/>
          </a:xfrm>
          <a:prstGeom prst="rect">
            <a:avLst/>
          </a:prstGeom>
          <a:solidFill>
            <a:srgbClr val="FBF8E9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Most important skill…</a:t>
            </a:r>
            <a:endParaRPr lang="en-US" sz="28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5825" y="1342372"/>
            <a:ext cx="56326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Asking the right questions from your data!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15" name="Picture 6" descr="Is Curiosity the Key to Happiness and Fufillment?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435" y="444856"/>
            <a:ext cx="2819400" cy="2660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0065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25" y="0"/>
            <a:ext cx="9144000" cy="323700"/>
          </a:xfrm>
          <a:prstGeom prst="rect">
            <a:avLst/>
          </a:prstGeom>
          <a:solidFill>
            <a:srgbClr val="FBF8E9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endParaRPr lang="en-US" sz="28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5989532" y="1816074"/>
            <a:ext cx="3040168" cy="155577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/>
              <a:t>Impact</a:t>
            </a:r>
            <a:endParaRPr lang="en-US" sz="1800" dirty="0"/>
          </a:p>
        </p:txBody>
      </p:sp>
      <p:sp>
        <p:nvSpPr>
          <p:cNvPr id="8" name="Rounded Rectangle 7"/>
          <p:cNvSpPr/>
          <p:nvPr/>
        </p:nvSpPr>
        <p:spPr>
          <a:xfrm>
            <a:off x="133350" y="1816074"/>
            <a:ext cx="2523210" cy="1555776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 smtClean="0">
                <a:solidFill>
                  <a:schemeClr val="bg1"/>
                </a:solidFill>
              </a:rPr>
              <a:t>Actionable insights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4" name="Right Arrow 3"/>
          <p:cNvSpPr/>
          <p:nvPr/>
        </p:nvSpPr>
        <p:spPr>
          <a:xfrm>
            <a:off x="2656560" y="2208311"/>
            <a:ext cx="3332973" cy="771301"/>
          </a:xfrm>
          <a:prstGeom prst="rightArrow">
            <a:avLst/>
          </a:prstGeom>
          <a:solidFill>
            <a:schemeClr val="bg1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216066" y="2054322"/>
            <a:ext cx="24703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50000"/>
                  </a:schemeClr>
                </a:solidFill>
              </a:rPr>
              <a:t>Persuade/influence</a:t>
            </a:r>
            <a:endParaRPr lang="en-US" sz="1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-11950" y="-68983"/>
            <a:ext cx="59442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What communication does to data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723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Embed your data in a story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06656" y="-72274"/>
            <a:ext cx="7362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5" y="1574978"/>
            <a:ext cx="4572000" cy="1815882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Stories appeal to human emotions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They arouse curiosity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600" dirty="0" smtClean="0"/>
              <a:t>They facilitate dialogue</a:t>
            </a:r>
            <a:endParaRPr lang="en-US" sz="1600" dirty="0"/>
          </a:p>
          <a:p>
            <a:endParaRPr lang="en-US" sz="1600" dirty="0"/>
          </a:p>
          <a:p>
            <a:r>
              <a:rPr lang="en-US" sz="1600" dirty="0" smtClean="0"/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450" y="389392"/>
            <a:ext cx="3638549" cy="341108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4482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Embed your data in a story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4" y="1574978"/>
            <a:ext cx="4748483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Plot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– What context is essential?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Twists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What is interesting about my data?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Ending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– What action do I want my audience to take away from the information at hand?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11" name="Right Arrow 10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4975" y="389392"/>
            <a:ext cx="3638549" cy="341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24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5104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Understand the </a:t>
            </a:r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context of your communication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5" y="1805531"/>
            <a:ext cx="5719249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Who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– To whom would you be communicating?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What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What do you want your audience to know or do?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How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– How will you communicate it to them?</a:t>
            </a:r>
          </a:p>
          <a:p>
            <a:r>
              <a:rPr 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	</a:t>
            </a:r>
          </a:p>
          <a:p>
            <a:r>
              <a:rPr lang="en-US" sz="1600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– 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How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can you use data to make your point?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6022" y="485812"/>
            <a:ext cx="3307978" cy="3274380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81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1124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Who?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4" y="1574978"/>
            <a:ext cx="5719249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Audience is King!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Know who your audience are – Technical? Non-technical?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Identify the decision maker(s)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756165"/>
            <a:ext cx="3412425" cy="297763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19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12234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What?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4" y="1574978"/>
            <a:ext cx="571924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You always want your audience to know or do something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Articulate why they should care about the information you put across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Don’t simply present data!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Be confident in making recommendations based on your analysis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3648" y="363377"/>
            <a:ext cx="5334000" cy="370459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5883648" y="3575228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924924" y="964244"/>
            <a:ext cx="1508117" cy="33791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2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1104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How?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4" y="1574978"/>
            <a:ext cx="571924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Live presentation or written document?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What tone do you want to set?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8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883648" y="3575228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Why and How to Bring Statistics Into Your Spee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3576" y="323601"/>
            <a:ext cx="3400424" cy="3448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ight Arrow 13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36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4717" y="542180"/>
            <a:ext cx="39036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What data is available?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4" y="1574978"/>
            <a:ext cx="4979101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Always use data as a supporting evidence of the story you want to tell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927956" y="3310338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977" y="323601"/>
            <a:ext cx="3778023" cy="3225612"/>
          </a:xfrm>
          <a:prstGeom prst="rect">
            <a:avLst/>
          </a:prstGeom>
        </p:spPr>
      </p:pic>
      <p:sp>
        <p:nvSpPr>
          <p:cNvPr id="14" name="Right Arrow 13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772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8585" y="291179"/>
            <a:ext cx="324319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Use the right visual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12" y="4814289"/>
            <a:ext cx="526673" cy="3413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643012" y="3575228"/>
            <a:ext cx="2454267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Arrow 16"/>
          <p:cNvSpPr/>
          <p:nvPr/>
        </p:nvSpPr>
        <p:spPr>
          <a:xfrm>
            <a:off x="12000" y="369448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https://app.flourish.studio/visualisation/98796/thumbnail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429" y="1633562"/>
            <a:ext cx="2286000" cy="1333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7612" y="3266174"/>
            <a:ext cx="2286000" cy="13335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530" y="1462951"/>
            <a:ext cx="1960141" cy="12079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012" y="1433976"/>
            <a:ext cx="2286000" cy="13335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643012" y="4743267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Bubble chart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4160" y="3518298"/>
            <a:ext cx="2074625" cy="1295991"/>
          </a:xfrm>
          <a:prstGeom prst="rect">
            <a:avLst/>
          </a:prstGeom>
        </p:spPr>
      </p:pic>
      <p:cxnSp>
        <p:nvCxnSpPr>
          <p:cNvPr id="30" name="Straight Connector 29"/>
          <p:cNvCxnSpPr/>
          <p:nvPr/>
        </p:nvCxnSpPr>
        <p:spPr>
          <a:xfrm>
            <a:off x="6494160" y="4563342"/>
            <a:ext cx="2545066" cy="1019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731540" y="2969490"/>
            <a:ext cx="23657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607714" y="816670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Correlation</a:t>
            </a:r>
            <a:endParaRPr lang="en-US" b="1" dirty="0"/>
          </a:p>
        </p:txBody>
      </p:sp>
      <p:sp>
        <p:nvSpPr>
          <p:cNvPr id="42" name="TextBox 41"/>
          <p:cNvSpPr txBox="1"/>
          <p:nvPr/>
        </p:nvSpPr>
        <p:spPr>
          <a:xfrm>
            <a:off x="6517869" y="3021115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Scatter plots</a:t>
            </a:r>
            <a:endParaRPr lang="en-US" dirty="0"/>
          </a:p>
        </p:txBody>
      </p:sp>
      <p:sp>
        <p:nvSpPr>
          <p:cNvPr id="43" name="TextBox 42"/>
          <p:cNvSpPr txBox="1"/>
          <p:nvPr/>
        </p:nvSpPr>
        <p:spPr>
          <a:xfrm>
            <a:off x="3616466" y="882028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Change over time</a:t>
            </a:r>
            <a:endParaRPr lang="en-US" b="1" dirty="0"/>
          </a:p>
        </p:txBody>
      </p:sp>
      <p:cxnSp>
        <p:nvCxnSpPr>
          <p:cNvPr id="44" name="Straight Connector 43"/>
          <p:cNvCxnSpPr/>
          <p:nvPr/>
        </p:nvCxnSpPr>
        <p:spPr>
          <a:xfrm>
            <a:off x="3639045" y="2978066"/>
            <a:ext cx="23657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425374" y="3029691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Line chart</a:t>
            </a:r>
            <a:endParaRPr lang="en-US" dirty="0"/>
          </a:p>
        </p:txBody>
      </p:sp>
      <p:cxnSp>
        <p:nvCxnSpPr>
          <p:cNvPr id="47" name="Straight Connector 46"/>
          <p:cNvCxnSpPr/>
          <p:nvPr/>
        </p:nvCxnSpPr>
        <p:spPr>
          <a:xfrm>
            <a:off x="3490997" y="4578964"/>
            <a:ext cx="23657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277326" y="4630589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Area chart</a:t>
            </a:r>
            <a:endParaRPr lang="en-US" dirty="0"/>
          </a:p>
        </p:txBody>
      </p:sp>
      <p:cxnSp>
        <p:nvCxnSpPr>
          <p:cNvPr id="49" name="Straight Connector 48"/>
          <p:cNvCxnSpPr/>
          <p:nvPr/>
        </p:nvCxnSpPr>
        <p:spPr>
          <a:xfrm>
            <a:off x="87732" y="2939521"/>
            <a:ext cx="23657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-125939" y="2991146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Column chart</a:t>
            </a:r>
            <a:endParaRPr lang="en-US" dirty="0"/>
          </a:p>
        </p:txBody>
      </p:sp>
      <p:cxnSp>
        <p:nvCxnSpPr>
          <p:cNvPr id="53" name="Straight Connector 52"/>
          <p:cNvCxnSpPr/>
          <p:nvPr/>
        </p:nvCxnSpPr>
        <p:spPr>
          <a:xfrm>
            <a:off x="60492" y="4599674"/>
            <a:ext cx="236573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-203630" y="4599674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Bar chart</a:t>
            </a:r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3175" y="3562276"/>
            <a:ext cx="2114275" cy="98811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07396" y="845799"/>
            <a:ext cx="25362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Size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84987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41" grpId="0"/>
      <p:bldP spid="42" grpId="0"/>
      <p:bldP spid="43" grpId="0"/>
      <p:bldP spid="45" grpId="0"/>
      <p:bldP spid="48" grpId="0"/>
      <p:bldP spid="50" grpId="0"/>
      <p:bldP spid="54" grpId="0"/>
      <p:bldP spid="5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187041" y="-72273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How do we communicate data effectively?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16775" y="1192625"/>
            <a:ext cx="4221762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8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Where do you want your audience to pay attention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5883648" y="3575228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502350" y="534039"/>
            <a:ext cx="26436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>
                <a:solidFill>
                  <a:schemeClr val="accent5">
                    <a:lumMod val="50000"/>
                  </a:schemeClr>
                </a:solidFill>
              </a:rPr>
              <a:t>Focus attention</a:t>
            </a:r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0116" y="323600"/>
            <a:ext cx="4003883" cy="379120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12789" y="1841726"/>
            <a:ext cx="4529207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Use of pre-attentive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attributes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Strategic and intentional use of </a:t>
            </a:r>
            <a:r>
              <a:rPr lang="en-US" sz="1600" dirty="0" err="1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colour</a:t>
            </a: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Careful use of explanatory </a:t>
            </a: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text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16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Do not emphasize multiple things in a visual, at least not at the same time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1600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0" y="637734"/>
            <a:ext cx="502350" cy="326510"/>
          </a:xfrm>
          <a:prstGeom prst="rightArrow">
            <a:avLst>
              <a:gd name="adj1" fmla="val 50000"/>
              <a:gd name="adj2" fmla="val 58042"/>
            </a:avLst>
          </a:prstGeom>
          <a:solidFill>
            <a:schemeClr val="accent5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45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2000" y="294500"/>
            <a:ext cx="9144000" cy="29100"/>
          </a:xfrm>
          <a:prstGeom prst="rect">
            <a:avLst/>
          </a:prstGeom>
          <a:solidFill>
            <a:srgbClr val="166A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-35135" y="-59202"/>
            <a:ext cx="7607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Focus Attention </a:t>
            </a:r>
            <a:endParaRPr lang="en-US" sz="2400" dirty="0">
              <a:solidFill>
                <a:schemeClr val="accent5">
                  <a:lumMod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6775" y="2867361"/>
            <a:ext cx="4572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879" y="4515643"/>
            <a:ext cx="1117121" cy="62986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43576" y="3549213"/>
            <a:ext cx="329565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74D27F56-E69D-4ED8-91E4-2507C59750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57561241"/>
              </p:ext>
            </p:extLst>
          </p:nvPr>
        </p:nvGraphicFramePr>
        <p:xfrm>
          <a:off x="-187041" y="1124650"/>
          <a:ext cx="6782876" cy="37931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116774" y="649649"/>
            <a:ext cx="81906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accent5">
                    <a:lumMod val="75000"/>
                  </a:schemeClr>
                </a:solidFill>
              </a:rPr>
              <a:t>Smallholder farmers in Southwestern Nigeria are using television as information source </a:t>
            </a:r>
            <a:endParaRPr lang="en-US" dirty="0" smtClean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en-US" sz="1200" dirty="0" smtClean="0">
                <a:solidFill>
                  <a:schemeClr val="accent5">
                    <a:lumMod val="75000"/>
                  </a:schemeClr>
                </a:solidFill>
              </a:rPr>
              <a:t>Two-thirds </a:t>
            </a:r>
            <a:r>
              <a:rPr lang="en-US" sz="1200" dirty="0" smtClean="0">
                <a:solidFill>
                  <a:schemeClr val="accent2">
                    <a:lumMod val="75000"/>
                    <a:lumOff val="25000"/>
                  </a:schemeClr>
                </a:solidFill>
              </a:rPr>
              <a:t>of the farmers source their agricultural information from </a:t>
            </a:r>
            <a:r>
              <a:rPr lang="en-US" sz="1200" dirty="0" smtClean="0">
                <a:solidFill>
                  <a:schemeClr val="accent5">
                    <a:lumMod val="50000"/>
                  </a:schemeClr>
                </a:solidFill>
              </a:rPr>
              <a:t>television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0" y="4826480"/>
            <a:ext cx="6969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Source: Field Survey, 2018</a:t>
            </a:r>
          </a:p>
          <a:p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©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2020 </a:t>
            </a:r>
            <a:r>
              <a:rPr lang="en-US" sz="800" dirty="0" err="1" smtClean="0">
                <a:solidFill>
                  <a:schemeClr val="bg1">
                    <a:lumMod val="50000"/>
                  </a:schemeClr>
                </a:solidFill>
              </a:rPr>
              <a:t>Adeyinka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J. </a:t>
            </a:r>
            <a:r>
              <a:rPr lang="en-US" sz="800" dirty="0" smtClean="0">
                <a:solidFill>
                  <a:schemeClr val="bg1">
                    <a:lumMod val="50000"/>
                  </a:schemeClr>
                </a:solidFill>
              </a:rPr>
              <a:t>Oresanya. All rights reserved</a:t>
            </a:r>
            <a:endParaRPr 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4279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2096490" y="1053129"/>
            <a:ext cx="5799734" cy="3307595"/>
          </a:xfrm>
          <a:prstGeom prst="rect">
            <a:avLst/>
          </a:prstGeom>
          <a:noFill/>
          <a:ln w="28575" cap="flat" cmpd="sng">
            <a:solidFill>
              <a:srgbClr val="166A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2"/>
          <p:cNvSpPr/>
          <p:nvPr/>
        </p:nvSpPr>
        <p:spPr>
          <a:xfrm>
            <a:off x="1857376" y="831124"/>
            <a:ext cx="6296024" cy="3702775"/>
          </a:xfrm>
          <a:prstGeom prst="rect">
            <a:avLst/>
          </a:prstGeom>
          <a:noFill/>
          <a:ln w="28575" cap="flat" cmpd="sng">
            <a:solidFill>
              <a:srgbClr val="166A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6491" y="1053128"/>
            <a:ext cx="5799734" cy="330759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" y="4513634"/>
            <a:ext cx="1117121" cy="6298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432</Words>
  <Application>Microsoft Office PowerPoint</Application>
  <PresentationFormat>On-screen Show (16:9)</PresentationFormat>
  <Paragraphs>117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Black</vt:lpstr>
      <vt:lpstr>Poppins Medium</vt:lpstr>
      <vt:lpstr>Poppins</vt:lpstr>
      <vt:lpstr>Arial</vt:lpstr>
      <vt:lpstr>Wingdings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Adeyinka Oresanya</dc:creator>
  <cp:lastModifiedBy>A.J Oresanya</cp:lastModifiedBy>
  <cp:revision>91</cp:revision>
  <dcterms:modified xsi:type="dcterms:W3CDTF">2020-07-24T17:17:49Z</dcterms:modified>
</cp:coreProperties>
</file>