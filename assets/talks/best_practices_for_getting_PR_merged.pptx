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0"/>
  </p:notesMasterIdLst>
  <p:sldIdLst>
    <p:sldId id="256" r:id="rId2"/>
    <p:sldId id="257" r:id="rId3"/>
    <p:sldId id="354" r:id="rId4"/>
    <p:sldId id="355" r:id="rId5"/>
    <p:sldId id="353" r:id="rId6"/>
    <p:sldId id="357" r:id="rId7"/>
    <p:sldId id="356" r:id="rId8"/>
    <p:sldId id="328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Vidaloka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736346-2FAC-4973-8824-E5C9E7C21090}">
  <a:tblStyle styleId="{E6736346-2FAC-4973-8824-E5C9E7C21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078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585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831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061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416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1083f33e91c_2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1083f33e91c_2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96" r:id="rId5"/>
    <p:sldLayoutId id="2147483697" r:id="rId6"/>
    <p:sldLayoutId id="2147483698" r:id="rId7"/>
    <p:sldLayoutId id="214748369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ventionalcommits.org/en/v1.0.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uthentication/managing-commit-signature-verifica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conventionalcommits.org/en/v1.0.0/" TargetMode="External"/><Relationship Id="rId4" Type="http://schemas.openxmlformats.org/officeDocument/2006/relationships/hyperlink" Target="https://docs.github.com/en/issues/tracking-your-work-with-issues/linking-a-pull-request-to-an-iss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593407" y="99983"/>
            <a:ext cx="8252881" cy="2611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Best Practices for getting your PRs merged</a:t>
            </a:r>
            <a:endParaRPr dirty="0"/>
          </a:p>
        </p:txBody>
      </p:sp>
      <p:sp>
        <p:nvSpPr>
          <p:cNvPr id="4" name="Google Shape;482;p59">
            <a:extLst>
              <a:ext uri="{FF2B5EF4-FFF2-40B4-BE49-F238E27FC236}">
                <a16:creationId xmlns:a16="http://schemas.microsoft.com/office/drawing/2014/main" id="{37B4C9AF-B657-DC2B-2927-CD6E42114FA3}"/>
              </a:ext>
            </a:extLst>
          </p:cNvPr>
          <p:cNvSpPr txBox="1">
            <a:spLocks/>
          </p:cNvSpPr>
          <p:nvPr/>
        </p:nvSpPr>
        <p:spPr>
          <a:xfrm>
            <a:off x="1039950" y="3391785"/>
            <a:ext cx="7064100" cy="79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Vidaloka"/>
              <a:buNone/>
              <a:defRPr sz="65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dirty="0">
                <a:latin typeface="Montserrat" panose="00000500000000000000" pitchFamily="2" charset="0"/>
              </a:rPr>
              <a:t>Prepared by </a:t>
            </a:r>
          </a:p>
          <a:p>
            <a:r>
              <a:rPr lang="en-GB" sz="4400" dirty="0"/>
              <a:t>Adeyinka Oresanya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01C3-C899-1D10-B3F1-9152D95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08" y="923850"/>
            <a:ext cx="8133038" cy="3295800"/>
          </a:xfrm>
        </p:spPr>
        <p:txBody>
          <a:bodyPr/>
          <a:lstStyle/>
          <a:p>
            <a:pPr algn="just"/>
            <a:r>
              <a:rPr lang="en-GB" sz="1600" dirty="0"/>
              <a:t>Read the documentation and other guides (CONTRIBUTING.md, README.md ).</a:t>
            </a:r>
          </a:p>
          <a:p>
            <a:pPr algn="just"/>
            <a:endParaRPr lang="en-GB" sz="1600" dirty="0"/>
          </a:p>
          <a:p>
            <a:pPr algn="just"/>
            <a:r>
              <a:rPr lang="en-GB" sz="1600" dirty="0"/>
              <a:t>Attend meetings and be involved with ongoing conversations around the project you are interested in contributing to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GB" sz="1600" dirty="0"/>
              <a:t>Create an issue to resolve a problem and ask to be assigned:</a:t>
            </a:r>
          </a:p>
          <a:p>
            <a:pPr algn="just"/>
            <a:endParaRPr lang="en-GB" sz="1600" dirty="0"/>
          </a:p>
          <a:p>
            <a:pPr lvl="1" algn="just"/>
            <a:r>
              <a:rPr lang="en-US" dirty="0"/>
              <a:t>Helps maintainers be aware of what you are working on</a:t>
            </a:r>
          </a:p>
          <a:p>
            <a:pPr lvl="1" algn="just"/>
            <a:r>
              <a:rPr lang="en-US" dirty="0"/>
              <a:t>Saves you from making PRs that do not align with the goals of the project at the moment.</a:t>
            </a:r>
          </a:p>
          <a:p>
            <a:pPr lvl="1" algn="just"/>
            <a:r>
              <a:rPr lang="en-US" dirty="0"/>
              <a:t>Informs other developers that the issue they also have in mind is already being worked on.</a:t>
            </a:r>
          </a:p>
          <a:p>
            <a:pPr lvl="1" algn="just"/>
            <a:endParaRPr lang="en-US" dirty="0"/>
          </a:p>
          <a:p>
            <a:pPr algn="just"/>
            <a:r>
              <a:rPr lang="en-US" sz="1600" dirty="0"/>
              <a:t>Ensure to write a well-detailed issue.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01C3-C899-1D10-B3F1-9152D95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418" y="743092"/>
            <a:ext cx="8133038" cy="4094717"/>
          </a:xfrm>
        </p:spPr>
        <p:txBody>
          <a:bodyPr/>
          <a:lstStyle/>
          <a:p>
            <a:pPr marL="114300" indent="0" algn="ctr">
              <a:buNone/>
            </a:pPr>
            <a:r>
              <a:rPr lang="en-US" b="1" dirty="0"/>
              <a:t>[BUG] Image Upload Failing for Large Files (&gt;5MB)</a:t>
            </a:r>
          </a:p>
          <a:p>
            <a:pPr marL="114300" indent="0">
              <a:buNone/>
            </a:pPr>
            <a:r>
              <a:rPr lang="en-US" b="1" dirty="0"/>
              <a:t>Description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The image upload functionality is not working correctly for images larger than 5MB. When attempting to upload a large image file, the upload process fails without any error message displayed to the user.</a:t>
            </a:r>
          </a:p>
          <a:p>
            <a:pPr marL="114300" indent="0">
              <a:buNone/>
            </a:pPr>
            <a:r>
              <a:rPr lang="en-US" b="1" dirty="0"/>
              <a:t>Steps To Reproduce</a:t>
            </a:r>
            <a:endParaRPr lang="en-US" dirty="0"/>
          </a:p>
          <a:p>
            <a:r>
              <a:rPr lang="en-US" dirty="0"/>
              <a:t>Navigate to the "Upload Image" section of the application.</a:t>
            </a:r>
          </a:p>
          <a:p>
            <a:r>
              <a:rPr lang="en-US" dirty="0"/>
              <a:t>Click on "Choose File" and select an image file larger than 5MB.</a:t>
            </a:r>
          </a:p>
          <a:p>
            <a:r>
              <a:rPr lang="en-US" dirty="0"/>
              <a:t>Click the "Upload" button.</a:t>
            </a:r>
          </a:p>
          <a:p>
            <a:r>
              <a:rPr lang="en-US" dirty="0"/>
              <a:t>Observe that the upload process stalls and no error message appears.</a:t>
            </a:r>
          </a:p>
          <a:p>
            <a:pPr marL="114300" indent="0">
              <a:buNone/>
            </a:pPr>
            <a:r>
              <a:rPr lang="en-US" b="1" dirty="0"/>
              <a:t>Expected behavior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The application should either successfully upload the image file or display a clear error message indicating that the file size exceeds the limit.</a:t>
            </a:r>
          </a:p>
          <a:p>
            <a:pPr marL="114300" indent="0">
              <a:buNone/>
            </a:pPr>
            <a:r>
              <a:rPr lang="en-US" b="1" dirty="0"/>
              <a:t>Screenshots/screen recordings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(Add screenshots showcasing the upload screen and the lack of error message)</a:t>
            </a:r>
          </a:p>
          <a:p>
            <a:pPr marL="114300" indent="0">
              <a:buNone/>
            </a:pPr>
            <a:r>
              <a:rPr lang="en-US" b="1" dirty="0"/>
              <a:t>Desktop specifications</a:t>
            </a:r>
            <a:endParaRPr lang="en-US" dirty="0"/>
          </a:p>
          <a:p>
            <a:r>
              <a:rPr lang="en-US" dirty="0"/>
              <a:t>OS: Not applicable (issue occurs across all operating systems).</a:t>
            </a:r>
          </a:p>
          <a:p>
            <a:r>
              <a:rPr lang="en-US" dirty="0"/>
              <a:t>Browser: Chrome, Firefox, Safari (all latest versions tested).</a:t>
            </a:r>
          </a:p>
          <a:p>
            <a:pPr marL="114300" indent="0">
              <a:buNone/>
            </a:pPr>
            <a:r>
              <a:rPr lang="en-US" b="1" dirty="0"/>
              <a:t>Smartphone specifications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Not applicable (issue primarily affects desktop users).</a:t>
            </a:r>
          </a:p>
          <a:p>
            <a:pPr marL="114300" indent="0">
              <a:buNone/>
            </a:pPr>
            <a:r>
              <a:rPr lang="en-US" b="1" dirty="0"/>
              <a:t>Additional context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This bug can be frustrating for users who are trying to upload high-resolution images. It's important to implement a clear error message to advise users of the file size limitation and suggest alternative solutions (e.g., compressing the image before upload).</a:t>
            </a:r>
          </a:p>
        </p:txBody>
      </p:sp>
      <p:sp>
        <p:nvSpPr>
          <p:cNvPr id="5" name="Google Shape;1899;p131">
            <a:extLst>
              <a:ext uri="{FF2B5EF4-FFF2-40B4-BE49-F238E27FC236}">
                <a16:creationId xmlns:a16="http://schemas.microsoft.com/office/drawing/2014/main" id="{F1CA418C-CBB1-3DE3-3AFB-DE4AF6482560}"/>
              </a:ext>
            </a:extLst>
          </p:cNvPr>
          <p:cNvSpPr txBox="1">
            <a:spLocks/>
          </p:cNvSpPr>
          <p:nvPr/>
        </p:nvSpPr>
        <p:spPr>
          <a:xfrm>
            <a:off x="1852081" y="383843"/>
            <a:ext cx="5439838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2400" dirty="0">
                <a:latin typeface="Vidaloka" panose="020B0604020202020204" charset="0"/>
              </a:rPr>
              <a:t>Example of a well-detailed issue</a:t>
            </a:r>
          </a:p>
        </p:txBody>
      </p:sp>
    </p:spTree>
    <p:extLst>
      <p:ext uri="{BB962C8B-B14F-4D97-AF65-F5344CB8AC3E}">
        <p14:creationId xmlns:p14="http://schemas.microsoft.com/office/powerpoint/2010/main" val="99602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01C3-C899-1D10-B3F1-9152D95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22" y="645604"/>
            <a:ext cx="8133038" cy="3295800"/>
          </a:xfrm>
        </p:spPr>
        <p:txBody>
          <a:bodyPr/>
          <a:lstStyle/>
          <a:p>
            <a:pPr algn="just"/>
            <a:r>
              <a:rPr lang="en-US" sz="1600" dirty="0"/>
              <a:t>Adhere to the deadline in the guidelines for completing a task.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Create a draft PR as you keep working to show progress.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Deal with blockers through collaboration, seeking clarifications, and asking for help from other developers.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Write standard and well-detailed commit messages (</a:t>
            </a:r>
            <a:r>
              <a:rPr lang="en-US" sz="1600" dirty="0">
                <a:hlinkClick r:id="rId3"/>
              </a:rPr>
              <a:t>https://www.conventionalcommits.org/en/v1.0.0/</a:t>
            </a:r>
            <a:r>
              <a:rPr lang="en-US" sz="1600" dirty="0"/>
              <a:t>).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Sign-off your commits (https://github.com/badging/BadgingAPI/pull/45 ).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Managing commit signature </a:t>
            </a:r>
          </a:p>
          <a:p>
            <a:pPr lvl="1" algn="just"/>
            <a:r>
              <a:rPr lang="en-US" sz="1600" dirty="0"/>
              <a:t>https://docs.github.com/en/authentication/managing-commit-signature-verification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243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01C3-C899-1D10-B3F1-9152D95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22" y="645604"/>
            <a:ext cx="8133038" cy="3295800"/>
          </a:xfrm>
        </p:spPr>
        <p:txBody>
          <a:bodyPr/>
          <a:lstStyle/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Create well-detailed PR.</a:t>
            </a:r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832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01C3-C899-1D10-B3F1-9152D95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49" y="613001"/>
            <a:ext cx="8430749" cy="3990897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000" b="1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pull request implements a maximum file size limit of 5MB for image uploads and displays an error message when exceeded. (Fixes #&lt;issue number&gt;)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000" b="1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Changes: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app/controllers/images_controller.</a:t>
            </a:r>
            <a:r>
              <a:rPr lang="en-US" sz="1000" b="1" dirty="0"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00" kern="100" dirty="0"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Added validation to check the size of uploaded image files.</a:t>
            </a:r>
            <a:endParaRPr lang="en-US" sz="1000" kern="100" dirty="0"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Implemented logic to return a user-friendly error message if the file size exceeds 5MB.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app/views/images/_upload_form.html</a:t>
            </a:r>
            <a:endParaRPr lang="en-US" sz="1000" kern="100" dirty="0"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Updated the upload form to display a maximum file size limitation notice.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000" b="1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Manual testing was conducted to verify successful image uploads for files under 5MB.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new unit test was added to the </a:t>
            </a:r>
            <a:r>
              <a:rPr lang="en-US" sz="1000" kern="0" dirty="0" err="1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ImagesController</a:t>
            </a: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 suite to ensure the file size validation works as expected.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error message for exceeding the file size limit was also tested in a browser.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000" b="1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Additional Notes: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kern="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chosen maximum file size limit of 5MB can be adjusted based on server storage capacity and performance considerations.</a:t>
            </a:r>
            <a:endParaRPr lang="en-US" sz="1000" kern="1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899;p131">
            <a:extLst>
              <a:ext uri="{FF2B5EF4-FFF2-40B4-BE49-F238E27FC236}">
                <a16:creationId xmlns:a16="http://schemas.microsoft.com/office/drawing/2014/main" id="{F1CA418C-CBB1-3DE3-3AFB-DE4AF6482560}"/>
              </a:ext>
            </a:extLst>
          </p:cNvPr>
          <p:cNvSpPr txBox="1">
            <a:spLocks/>
          </p:cNvSpPr>
          <p:nvPr/>
        </p:nvSpPr>
        <p:spPr>
          <a:xfrm>
            <a:off x="1852081" y="305691"/>
            <a:ext cx="5439838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2400" dirty="0">
                <a:latin typeface="Vidaloka" panose="020B0604020202020204" charset="0"/>
              </a:rPr>
              <a:t>Example of a well-detailed PR</a:t>
            </a:r>
          </a:p>
        </p:txBody>
      </p:sp>
    </p:spTree>
    <p:extLst>
      <p:ext uri="{BB962C8B-B14F-4D97-AF65-F5344CB8AC3E}">
        <p14:creationId xmlns:p14="http://schemas.microsoft.com/office/powerpoint/2010/main" val="324737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01C3-C899-1D10-B3F1-9152D95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22" y="645604"/>
            <a:ext cx="8133038" cy="3295800"/>
          </a:xfrm>
        </p:spPr>
        <p:txBody>
          <a:bodyPr/>
          <a:lstStyle/>
          <a:p>
            <a:pPr algn="just"/>
            <a:endParaRPr lang="en-US" sz="1600" dirty="0"/>
          </a:p>
          <a:p>
            <a:pPr algn="just"/>
            <a:r>
              <a:rPr lang="en-US" sz="1600" dirty="0"/>
              <a:t>Link to the issue your PR is resolving.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Master the art of creating PRs that do not have conflicts.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Address reviewer feedback.</a:t>
            </a:r>
          </a:p>
        </p:txBody>
      </p:sp>
    </p:spTree>
    <p:extLst>
      <p:ext uri="{BB962C8B-B14F-4D97-AF65-F5344CB8AC3E}">
        <p14:creationId xmlns:p14="http://schemas.microsoft.com/office/powerpoint/2010/main" val="75485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31"/>
          <p:cNvSpPr txBox="1">
            <a:spLocks noGrp="1"/>
          </p:cNvSpPr>
          <p:nvPr>
            <p:ph type="subTitle" idx="2"/>
          </p:nvPr>
        </p:nvSpPr>
        <p:spPr>
          <a:xfrm>
            <a:off x="578187" y="1194750"/>
            <a:ext cx="8321263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uFill>
                  <a:noFill/>
                </a:uFill>
                <a:hlinkClick r:id="rId3"/>
              </a:rPr>
              <a:t>https://docs.github.com/en/authentication/managing-commit-signature-verification</a:t>
            </a:r>
            <a:endParaRPr lang="en-US" dirty="0">
              <a:solidFill>
                <a:schemeClr val="dk1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>
              <a:solidFill>
                <a:schemeClr val="dk1"/>
              </a:solidFill>
              <a:uFill>
                <a:noFill/>
              </a:uFill>
              <a:hlinkClick r:id="rId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uFill>
                  <a:noFill/>
                </a:uFill>
                <a:hlinkClick r:id="rId4"/>
              </a:rPr>
              <a:t>https://docs.github.com/en/issues/tracking-your-work-with-issues/linking-a-pull-request-to-an-issue</a:t>
            </a:r>
            <a:endParaRPr lang="en-US" dirty="0">
              <a:solidFill>
                <a:schemeClr val="dk1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>
              <a:solidFill>
                <a:schemeClr val="dk1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uFill>
                  <a:noFill/>
                </a:uFill>
                <a:hlinkClick r:id="rId5"/>
              </a:rPr>
              <a:t>https://www.conventionalcommits.org/en/v1.0.0/</a:t>
            </a:r>
            <a:endParaRPr lang="en-US" dirty="0">
              <a:solidFill>
                <a:schemeClr val="dk1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dirty="0">
              <a:solidFill>
                <a:schemeClr val="dk1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uFill>
                  <a:noFill/>
                </a:uFill>
              </a:rPr>
              <a:t>https://docs.github.com/en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dirty="0"/>
          </a:p>
        </p:txBody>
      </p:sp>
      <p:sp>
        <p:nvSpPr>
          <p:cNvPr id="1901" name="Google Shape;1901;p1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688</Words>
  <Application>Microsoft Office PowerPoint</Application>
  <PresentationFormat>On-screen Show (16:9)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Lato</vt:lpstr>
      <vt:lpstr>Montserrat</vt:lpstr>
      <vt:lpstr>Vidaloka</vt:lpstr>
      <vt:lpstr>Arial</vt:lpstr>
      <vt:lpstr>Minimalist Business Slides XL by Slidesgo</vt:lpstr>
      <vt:lpstr>Best Practices for getting your PRs merged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Business Slides</dc:title>
  <dc:creator>Dell</dc:creator>
  <cp:lastModifiedBy>Adeyinka J. Oresanya</cp:lastModifiedBy>
  <cp:revision>3</cp:revision>
  <dcterms:modified xsi:type="dcterms:W3CDTF">2025-10-17T11:57:26Z</dcterms:modified>
</cp:coreProperties>
</file>