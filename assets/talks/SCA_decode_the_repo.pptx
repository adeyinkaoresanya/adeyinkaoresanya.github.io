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74" r:id="rId4"/>
    <p:sldId id="277" r:id="rId5"/>
    <p:sldId id="278" r:id="rId6"/>
    <p:sldId id="279" r:id="rId7"/>
    <p:sldId id="282" r:id="rId8"/>
    <p:sldId id="272" r:id="rId9"/>
    <p:sldId id="280" r:id="rId10"/>
    <p:sldId id="281" r:id="rId11"/>
    <p:sldId id="273" r:id="rId12"/>
  </p:sldIdLst>
  <p:sldSz cx="24384000" cy="13716000"/>
  <p:notesSz cx="6858000" cy="9144000"/>
  <p:embeddedFontLst>
    <p:embeddedFont>
      <p:font typeface="Arimo" panose="020B0604020202020204" charset="0"/>
      <p:regular r:id="rId14"/>
    </p:embeddedFont>
    <p:embeddedFont>
      <p:font typeface="Mona-Sans 2" panose="020B0604020202020204" charset="0"/>
      <p:regular r:id="rId15"/>
    </p:embeddedFont>
    <p:embeddedFont>
      <p:font typeface="Mona-Sans 3" panose="020B0604020202020204" charset="0"/>
      <p:regular r:id="rId16"/>
    </p:embeddedFont>
  </p:embeddedFontLst>
  <p:defaultTextStyle>
    <a:defPPr>
      <a:defRPr lang="en-US"/>
    </a:defPPr>
    <a:lvl1pPr marL="0" algn="l" defTabSz="914351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76" algn="l" defTabSz="914351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351" algn="l" defTabSz="914351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529" algn="l" defTabSz="914351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704" algn="l" defTabSz="914351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880" algn="l" defTabSz="914351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3055" algn="l" defTabSz="914351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0233" algn="l" defTabSz="914351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408" algn="l" defTabSz="914351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4" d="100"/>
          <a:sy n="34" d="100"/>
        </p:scale>
        <p:origin x="834" y="96"/>
      </p:cViewPr>
      <p:guideLst>
        <p:guide orient="horz" pos="2160"/>
        <p:guide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1C002-3A86-470A-B87B-5FC5919B7529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31338-AB2D-47E0-A8FE-D5FF4DAE0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9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6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1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29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4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0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55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3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08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1" y="2130427"/>
            <a:ext cx="7772400" cy="14700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7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2"/>
            <a:ext cx="7772400" cy="15001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1600200"/>
            <a:ext cx="4038599" cy="4525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600200"/>
            <a:ext cx="4038599" cy="4525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4"/>
            <a:ext cx="404018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1"/>
            <a:ext cx="300831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0"/>
            <a:ext cx="3008312" cy="46910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1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1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1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2" y="274639"/>
            <a:ext cx="2057400" cy="58515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199" y="274639"/>
            <a:ext cx="6019800" cy="58515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59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600200"/>
            <a:ext cx="8229599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6356351"/>
            <a:ext cx="2895599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1" y="6356351"/>
            <a:ext cx="2133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0815" y="12697"/>
            <a:ext cx="11139084" cy="13703303"/>
          </a:xfrm>
          <a:custGeom>
            <a:avLst/>
            <a:gdLst/>
            <a:ahLst/>
            <a:cxnLst/>
            <a:rect l="l" t="t" r="r" b="b"/>
            <a:pathLst>
              <a:path w="11139084" h="13703303">
                <a:moveTo>
                  <a:pt x="0" y="0"/>
                </a:moveTo>
                <a:lnTo>
                  <a:pt x="11139083" y="0"/>
                </a:lnTo>
                <a:lnTo>
                  <a:pt x="11139083" y="13703303"/>
                </a:lnTo>
                <a:lnTo>
                  <a:pt x="0" y="137033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1890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795733" y="9378153"/>
            <a:ext cx="9212381" cy="226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465"/>
              </a:lnSpc>
            </a:pPr>
            <a:r>
              <a:rPr lang="en-US" sz="4553" dirty="0">
                <a:solidFill>
                  <a:srgbClr val="D9D9D9"/>
                </a:solidFill>
                <a:latin typeface="Mona-Sans 2"/>
                <a:ea typeface="Mona-Sans 2"/>
                <a:cs typeface="Mona-Sans 2"/>
                <a:sym typeface="Mona-Sans 2"/>
              </a:rPr>
              <a:t>Adeyinka Oresanya</a:t>
            </a:r>
          </a:p>
          <a:p>
            <a:pPr algn="just">
              <a:lnSpc>
                <a:spcPts val="6465"/>
              </a:lnSpc>
            </a:pPr>
            <a:r>
              <a:rPr lang="en-US" sz="4553" dirty="0">
                <a:solidFill>
                  <a:srgbClr val="D9D9D9"/>
                </a:solidFill>
                <a:latin typeface="Mona-Sans 2"/>
                <a:ea typeface="Mona-Sans 2"/>
                <a:cs typeface="Mona-Sans 2"/>
                <a:sym typeface="Mona-Sans 2"/>
              </a:rPr>
              <a:t>@AYK_dev</a:t>
            </a:r>
          </a:p>
          <a:p>
            <a:pPr algn="just">
              <a:lnSpc>
                <a:spcPts val="5365"/>
              </a:lnSpc>
            </a:pPr>
            <a:r>
              <a:rPr lang="en-US" sz="3778" dirty="0">
                <a:solidFill>
                  <a:srgbClr val="D9D9D9"/>
                </a:solidFill>
                <a:latin typeface="Mona-Sans 2"/>
                <a:ea typeface="Mona-Sans 2"/>
                <a:cs typeface="Mona-Sans 2"/>
                <a:sym typeface="Mona-Sans 2"/>
              </a:rPr>
              <a:t>Technical Lead, CHAOSS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75422" y="1676400"/>
            <a:ext cx="15527628" cy="6365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639"/>
              </a:lnSpc>
            </a:pPr>
            <a:r>
              <a:rPr lang="en-GB" sz="7200" dirty="0">
                <a:solidFill>
                  <a:srgbClr val="FF3399"/>
                </a:solidFill>
                <a:latin typeface="Mona-Sans 3"/>
                <a:ea typeface="Mona-Sans 3"/>
                <a:cs typeface="Mona-Sans 3"/>
                <a:sym typeface="Mona-Sans 3"/>
              </a:rPr>
              <a:t>D</a:t>
            </a:r>
            <a:r>
              <a:rPr lang="en-US" sz="7200" dirty="0" err="1">
                <a:solidFill>
                  <a:srgbClr val="FF3399"/>
                </a:solidFill>
                <a:latin typeface="Mona-Sans 3"/>
                <a:ea typeface="Mona-Sans 3"/>
                <a:cs typeface="Mona-Sans 3"/>
                <a:sym typeface="Mona-Sans 3"/>
              </a:rPr>
              <a:t>ecode</a:t>
            </a:r>
            <a:r>
              <a:rPr lang="en-US" sz="7200" dirty="0">
                <a:solidFill>
                  <a:srgbClr val="FF3399"/>
                </a:solidFill>
                <a:latin typeface="Mona-Sans 3"/>
                <a:ea typeface="Mona-Sans 3"/>
                <a:cs typeface="Mona-Sans 3"/>
                <a:sym typeface="Mona-Sans 3"/>
              </a:rPr>
              <a:t> the Repo</a:t>
            </a:r>
            <a:r>
              <a:rPr lang="en-US" sz="7200" dirty="0">
                <a:solidFill>
                  <a:srgbClr val="FFFFFF"/>
                </a:solidFill>
                <a:latin typeface="Mona-Sans 3"/>
                <a:ea typeface="Mona-Sans 3"/>
                <a:cs typeface="Mona-Sans 3"/>
                <a:sym typeface="Mona-Sans 3"/>
              </a:rPr>
              <a:t>: Strategies for understanding and contributing to complex codebases</a:t>
            </a:r>
            <a:endParaRPr lang="en-US" sz="7200" dirty="0">
              <a:solidFill>
                <a:srgbClr val="FF3399"/>
              </a:solidFill>
              <a:latin typeface="Mona-Sans 3"/>
              <a:ea typeface="Mona-Sans 3"/>
              <a:cs typeface="Mona-Sans 3"/>
              <a:sym typeface="Mona-Sans 3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1840827" y="10513015"/>
            <a:ext cx="2496242" cy="2496242"/>
            <a:chOff x="0" y="0"/>
            <a:chExt cx="2235200" cy="2235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35200" cy="2235200"/>
            </a:xfrm>
            <a:custGeom>
              <a:avLst/>
              <a:gdLst/>
              <a:ahLst/>
              <a:cxnLst/>
              <a:rect l="l" t="t" r="r" b="b"/>
              <a:pathLst>
                <a:path w="2235200" h="2235200">
                  <a:moveTo>
                    <a:pt x="1116838" y="0"/>
                  </a:moveTo>
                  <a:cubicBezTo>
                    <a:pt x="499999" y="381"/>
                    <a:pt x="0" y="500634"/>
                    <a:pt x="0" y="1117600"/>
                  </a:cubicBezTo>
                  <a:cubicBezTo>
                    <a:pt x="0" y="1734820"/>
                    <a:pt x="500380" y="2235200"/>
                    <a:pt x="1117600" y="2235200"/>
                  </a:cubicBezTo>
                  <a:cubicBezTo>
                    <a:pt x="1734566" y="2235200"/>
                    <a:pt x="2234819" y="1735201"/>
                    <a:pt x="2235200" y="1118362"/>
                  </a:cubicBezTo>
                  <a:lnTo>
                    <a:pt x="2235200" y="1118362"/>
                  </a:lnTo>
                  <a:lnTo>
                    <a:pt x="2235200" y="1117219"/>
                  </a:lnTo>
                  <a:lnTo>
                    <a:pt x="2235200" y="1117219"/>
                  </a:lnTo>
                  <a:cubicBezTo>
                    <a:pt x="2235073" y="500507"/>
                    <a:pt x="1735201" y="381"/>
                    <a:pt x="111836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108718" y="1676400"/>
            <a:ext cx="13858229" cy="741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GB" sz="96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Struggle is </a:t>
            </a:r>
            <a:r>
              <a:rPr lang="en-GB" sz="9600" b="1" dirty="0">
                <a:solidFill>
                  <a:srgbClr val="FF3399"/>
                </a:solidFill>
                <a:latin typeface="Arimo"/>
                <a:ea typeface="Arimo"/>
                <a:cs typeface="Arimo"/>
                <a:sym typeface="Arimo"/>
              </a:rPr>
              <a:t>Real</a:t>
            </a:r>
            <a:r>
              <a:rPr lang="en-GB" sz="96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!</a:t>
            </a:r>
            <a:endParaRPr lang="en-US" sz="9600" b="1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1ABB0DC9-5B6B-CBDC-2E3F-5D06FA01ED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394A6C-4EB6-8584-2411-9F287D9DF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0" y="2418334"/>
            <a:ext cx="14706600" cy="112976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C119E1-18BC-3932-295D-52DD79EF877C}"/>
              </a:ext>
            </a:extLst>
          </p:cNvPr>
          <p:cNvSpPr txBox="1"/>
          <p:nvPr/>
        </p:nvSpPr>
        <p:spPr>
          <a:xfrm>
            <a:off x="762000" y="4100110"/>
            <a:ext cx="82296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2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Too many files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2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2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Zero docs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2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2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Cryptic function names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10B419-E503-D910-4907-7A24D8CD6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FB0EB3E-5A90-9C68-788D-8DC7B7776FD0}"/>
              </a:ext>
            </a:extLst>
          </p:cNvPr>
          <p:cNvSpPr txBox="1"/>
          <p:nvPr/>
        </p:nvSpPr>
        <p:spPr>
          <a:xfrm>
            <a:off x="1108718" y="1676400"/>
            <a:ext cx="13858229" cy="741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GB" sz="96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Why it </a:t>
            </a:r>
            <a:r>
              <a:rPr lang="en-GB" sz="9600" b="1" dirty="0">
                <a:solidFill>
                  <a:srgbClr val="FF3399"/>
                </a:solidFill>
                <a:latin typeface="Arimo"/>
                <a:ea typeface="Arimo"/>
                <a:cs typeface="Arimo"/>
                <a:sym typeface="Arimo"/>
              </a:rPr>
              <a:t>matters</a:t>
            </a:r>
            <a:endParaRPr lang="en-US" sz="9600" b="1" dirty="0">
              <a:solidFill>
                <a:srgbClr val="FF339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1039AD60-2698-E53E-692B-DB31F3AF0B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EFE71B-29A6-EC37-B9EA-33D27760F00E}"/>
              </a:ext>
            </a:extLst>
          </p:cNvPr>
          <p:cNvSpPr txBox="1"/>
          <p:nvPr/>
        </p:nvSpPr>
        <p:spPr>
          <a:xfrm>
            <a:off x="762000" y="4100110"/>
            <a:ext cx="239268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Complex repos are where real learning and growth happen.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The ability to decode a repo makes you:</a:t>
            </a:r>
          </a:p>
          <a:p>
            <a:pPr marL="2057329" lvl="3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A faster learner</a:t>
            </a:r>
          </a:p>
          <a:p>
            <a:pPr marL="2057329" lvl="3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A more valuable contributor</a:t>
            </a:r>
          </a:p>
          <a:p>
            <a:pPr marL="2057329" lvl="3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A better team player</a:t>
            </a:r>
          </a:p>
        </p:txBody>
      </p:sp>
    </p:spTree>
    <p:extLst>
      <p:ext uri="{BB962C8B-B14F-4D97-AF65-F5344CB8AC3E}">
        <p14:creationId xmlns:p14="http://schemas.microsoft.com/office/powerpoint/2010/main" val="3169357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8953B5-3506-225A-6875-EB38DE36F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090307A-EF0A-3452-8FC2-47290F1842E3}"/>
              </a:ext>
            </a:extLst>
          </p:cNvPr>
          <p:cNvSpPr txBox="1"/>
          <p:nvPr/>
        </p:nvSpPr>
        <p:spPr>
          <a:xfrm>
            <a:off x="1108718" y="1676400"/>
            <a:ext cx="13858229" cy="741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GB" sz="96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first </a:t>
            </a:r>
            <a:r>
              <a:rPr lang="en-GB" sz="9600" b="1" dirty="0">
                <a:solidFill>
                  <a:srgbClr val="FF3399"/>
                </a:solidFill>
                <a:latin typeface="Arimo"/>
                <a:ea typeface="Arimo"/>
                <a:cs typeface="Arimo"/>
                <a:sym typeface="Arimo"/>
              </a:rPr>
              <a:t>contact</a:t>
            </a:r>
            <a:endParaRPr lang="en-US" sz="9600" b="1" dirty="0">
              <a:solidFill>
                <a:srgbClr val="FF339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0EDCFC73-1D83-CC20-4BC0-EC8E84F83D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AEAA12-AA51-098D-C7FC-A1F346FF147E}"/>
              </a:ext>
            </a:extLst>
          </p:cNvPr>
          <p:cNvSpPr txBox="1"/>
          <p:nvPr/>
        </p:nvSpPr>
        <p:spPr>
          <a:xfrm>
            <a:off x="762000" y="4100110"/>
            <a:ext cx="23926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2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Don’t dive in — observe first:</a:t>
            </a:r>
          </a:p>
          <a:p>
            <a:pPr marL="1600151" lvl="2" indent="-685800">
              <a:buFont typeface="Arial" panose="020B0604020202020204" pitchFamily="34" charset="0"/>
              <a:buChar char="•"/>
            </a:pPr>
            <a:r>
              <a:rPr lang="en-US" sz="52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Understand what the project/product is about.</a:t>
            </a:r>
          </a:p>
          <a:p>
            <a:pPr marL="1600151" lvl="2" indent="-685800">
              <a:buFont typeface="Arial" panose="020B0604020202020204" pitchFamily="34" charset="0"/>
              <a:buChar char="•"/>
            </a:pPr>
            <a:r>
              <a:rPr lang="en-US" sz="52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Navigate the project/product like a user would.</a:t>
            </a:r>
          </a:p>
          <a:p>
            <a:pPr marL="1600151" lvl="2" indent="-685800">
              <a:buFont typeface="Arial" panose="020B0604020202020204" pitchFamily="34" charset="0"/>
              <a:buChar char="•"/>
            </a:pPr>
            <a:r>
              <a:rPr lang="en-US" sz="52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Document the user flow.</a:t>
            </a:r>
          </a:p>
          <a:p>
            <a:pPr marL="1142976" lvl="1" indent="-685800">
              <a:buFont typeface="Arial" panose="020B0604020202020204" pitchFamily="34" charset="0"/>
              <a:buChar char="•"/>
            </a:pPr>
            <a:endParaRPr lang="en-US" sz="52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2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You could take note of bugs and other issues alongside.</a:t>
            </a:r>
          </a:p>
        </p:txBody>
      </p:sp>
    </p:spTree>
    <p:extLst>
      <p:ext uri="{BB962C8B-B14F-4D97-AF65-F5344CB8AC3E}">
        <p14:creationId xmlns:p14="http://schemas.microsoft.com/office/powerpoint/2010/main" val="2506981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E4C138-AC46-2C40-19C6-F6A608585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7EE49F9-41D8-3585-633E-D823CC217388}"/>
              </a:ext>
            </a:extLst>
          </p:cNvPr>
          <p:cNvSpPr txBox="1"/>
          <p:nvPr/>
        </p:nvSpPr>
        <p:spPr>
          <a:xfrm>
            <a:off x="1108718" y="1676400"/>
            <a:ext cx="13858229" cy="741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GB" sz="96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Take a </a:t>
            </a:r>
            <a:r>
              <a:rPr lang="en-GB" sz="9600" b="1" dirty="0">
                <a:solidFill>
                  <a:srgbClr val="FF3399"/>
                </a:solidFill>
                <a:latin typeface="Arimo"/>
                <a:ea typeface="Arimo"/>
                <a:cs typeface="Arimo"/>
                <a:sym typeface="Arimo"/>
              </a:rPr>
              <a:t>Tour</a:t>
            </a:r>
            <a:endParaRPr lang="en-US" sz="9600" b="1" dirty="0">
              <a:solidFill>
                <a:srgbClr val="FF339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F30048A-A872-4FDB-D8FB-A96BFF6674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7E197A-E617-3965-CBA0-AAA2FA314BF6}"/>
              </a:ext>
            </a:extLst>
          </p:cNvPr>
          <p:cNvSpPr txBox="1"/>
          <p:nvPr/>
        </p:nvSpPr>
        <p:spPr>
          <a:xfrm>
            <a:off x="762000" y="4100110"/>
            <a:ext cx="23926800" cy="9233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2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Start with the README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2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2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Next is the Contributing.md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2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2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Any other guide or docs about the project e.g. Wiki pages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2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2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Discussions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2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2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Communication channels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2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2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Then on to the big one – the source files!</a:t>
            </a:r>
          </a:p>
        </p:txBody>
      </p:sp>
    </p:spTree>
    <p:extLst>
      <p:ext uri="{BB962C8B-B14F-4D97-AF65-F5344CB8AC3E}">
        <p14:creationId xmlns:p14="http://schemas.microsoft.com/office/powerpoint/2010/main" val="981648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B9E3C4-D621-263A-B19F-0272FA16F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425DDBA-19C7-DC87-24F8-3FBD6380F62A}"/>
              </a:ext>
            </a:extLst>
          </p:cNvPr>
          <p:cNvSpPr txBox="1"/>
          <p:nvPr/>
        </p:nvSpPr>
        <p:spPr>
          <a:xfrm>
            <a:off x="1219200" y="2055431"/>
            <a:ext cx="13858229" cy="741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GB" sz="96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Build a Mental </a:t>
            </a:r>
            <a:r>
              <a:rPr lang="en-GB" sz="9600" b="1" dirty="0">
                <a:solidFill>
                  <a:srgbClr val="FF3399"/>
                </a:solidFill>
                <a:latin typeface="Arimo"/>
                <a:ea typeface="Arimo"/>
                <a:cs typeface="Arimo"/>
                <a:sym typeface="Arimo"/>
              </a:rPr>
              <a:t>Model</a:t>
            </a:r>
            <a:endParaRPr lang="en-US" sz="9600" b="1" dirty="0">
              <a:solidFill>
                <a:srgbClr val="FF339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FD492C25-167C-6E64-CCC0-291628A103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3BCCD7-1D0D-9556-2F6F-35BB3F28A768}"/>
              </a:ext>
            </a:extLst>
          </p:cNvPr>
          <p:cNvSpPr txBox="1"/>
          <p:nvPr/>
        </p:nvSpPr>
        <p:spPr>
          <a:xfrm>
            <a:off x="762000" y="4100110"/>
            <a:ext cx="239268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Find the entry point of the app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Simplify what you see:</a:t>
            </a:r>
          </a:p>
          <a:p>
            <a:pPr marL="2971680" lvl="5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Draw your own diagram of the flow</a:t>
            </a:r>
          </a:p>
          <a:p>
            <a:pPr marL="2971680" lvl="5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Write a 1-sentence summary for each module</a:t>
            </a:r>
          </a:p>
          <a:p>
            <a:pPr marL="2971680" lvl="5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Keep a “What I think this does” notebook</a:t>
            </a:r>
          </a:p>
          <a:p>
            <a:pPr marL="2971680" lvl="5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Validate your assumptions by reading small sections of code</a:t>
            </a:r>
          </a:p>
        </p:txBody>
      </p:sp>
    </p:spTree>
    <p:extLst>
      <p:ext uri="{BB962C8B-B14F-4D97-AF65-F5344CB8AC3E}">
        <p14:creationId xmlns:p14="http://schemas.microsoft.com/office/powerpoint/2010/main" val="3033454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993147-E73B-D140-BB09-6CD1CF628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886E2D2-3FAA-CC67-5547-290D9F3B2BC0}"/>
              </a:ext>
            </a:extLst>
          </p:cNvPr>
          <p:cNvSpPr txBox="1"/>
          <p:nvPr/>
        </p:nvSpPr>
        <p:spPr>
          <a:xfrm>
            <a:off x="1219200" y="2055431"/>
            <a:ext cx="13858229" cy="741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GB" sz="96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Tools and </a:t>
            </a:r>
            <a:r>
              <a:rPr lang="en-GB" sz="9600" b="1" dirty="0">
                <a:solidFill>
                  <a:srgbClr val="FF3399"/>
                </a:solidFill>
                <a:latin typeface="Arimo"/>
                <a:ea typeface="Arimo"/>
                <a:cs typeface="Arimo"/>
                <a:sym typeface="Arimo"/>
              </a:rPr>
              <a:t>Techniques</a:t>
            </a:r>
            <a:endParaRPr lang="en-US" sz="9600" b="1" dirty="0">
              <a:solidFill>
                <a:srgbClr val="FF339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78AD0805-5EB1-9FED-1D9E-1C57AEA565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6841A-CA07-E097-DF96-AE9381728BAD}"/>
              </a:ext>
            </a:extLst>
          </p:cNvPr>
          <p:cNvSpPr txBox="1"/>
          <p:nvPr/>
        </p:nvSpPr>
        <p:spPr>
          <a:xfrm>
            <a:off x="762000" y="4100110"/>
            <a:ext cx="23926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git blame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commit history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 err="1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VSCode’s</a:t>
            </a: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outline for navigation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Code assistants </a:t>
            </a:r>
            <a:r>
              <a:rPr lang="en-US" sz="5400" dirty="0" err="1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e.g</a:t>
            </a: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GitHub Copilot, </a:t>
            </a:r>
            <a:r>
              <a:rPr lang="en-US" sz="5400" dirty="0" err="1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GetOnboard</a:t>
            </a:r>
            <a:endParaRPr lang="en-US" sz="54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472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4EA5E5-6A9A-E3DD-CC1F-A0E90596F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9EB4768-4746-EF63-A4E2-389A084DB6D1}"/>
              </a:ext>
            </a:extLst>
          </p:cNvPr>
          <p:cNvSpPr txBox="1"/>
          <p:nvPr/>
        </p:nvSpPr>
        <p:spPr>
          <a:xfrm>
            <a:off x="9753600" y="6425768"/>
            <a:ext cx="20227282" cy="864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400">
              <a:lnSpc>
                <a:spcPts val="4800"/>
              </a:lnSpc>
              <a:defRPr/>
            </a:pPr>
            <a:r>
              <a:rPr lang="en-GB" sz="13800" b="1" dirty="0">
                <a:solidFill>
                  <a:srgbClr val="FF3399"/>
                </a:solidFill>
                <a:latin typeface="Arimo"/>
                <a:ea typeface="Arimo"/>
                <a:cs typeface="Arimo"/>
                <a:sym typeface="Arimo"/>
              </a:rPr>
              <a:t>Demo</a:t>
            </a:r>
            <a:endParaRPr lang="en-US" sz="13800" b="1" dirty="0">
              <a:solidFill>
                <a:srgbClr val="FF3399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4174835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14412F-61FA-411E-D60B-2C8882E0E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C69864B-2959-D3BE-4CC4-1D6A0CEE6EBA}"/>
              </a:ext>
            </a:extLst>
          </p:cNvPr>
          <p:cNvSpPr txBox="1"/>
          <p:nvPr/>
        </p:nvSpPr>
        <p:spPr>
          <a:xfrm>
            <a:off x="1219200" y="2055431"/>
            <a:ext cx="15849600" cy="741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GB" sz="96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Make a Small </a:t>
            </a:r>
            <a:r>
              <a:rPr lang="en-GB" sz="9600" b="1" dirty="0">
                <a:solidFill>
                  <a:srgbClr val="FF3399"/>
                </a:solidFill>
                <a:latin typeface="Arimo"/>
                <a:ea typeface="Arimo"/>
                <a:cs typeface="Arimo"/>
                <a:sym typeface="Arimo"/>
              </a:rPr>
              <a:t>Contribution</a:t>
            </a:r>
            <a:endParaRPr lang="en-US" sz="9600" b="1" dirty="0">
              <a:solidFill>
                <a:srgbClr val="FF339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DF8A0100-9538-643C-66A7-1FBE663974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EE3D44-FC83-DAB3-6719-39CC9206A2CF}"/>
              </a:ext>
            </a:extLst>
          </p:cNvPr>
          <p:cNvSpPr txBox="1"/>
          <p:nvPr/>
        </p:nvSpPr>
        <p:spPr>
          <a:xfrm>
            <a:off x="762000" y="4100110"/>
            <a:ext cx="239268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Start small, but start right.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Fix a typo or update docs → get a PR merged → learn review flow.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Trace one bug → learn system interactions.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Contribute tests → deepen code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743463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4A1E5D-B231-F93A-6720-404425489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778589C-9F48-C7C8-282C-D7EF304155A4}"/>
              </a:ext>
            </a:extLst>
          </p:cNvPr>
          <p:cNvSpPr txBox="1"/>
          <p:nvPr/>
        </p:nvSpPr>
        <p:spPr>
          <a:xfrm>
            <a:off x="1219200" y="2055431"/>
            <a:ext cx="13858229" cy="741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GB" sz="96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Sustaining </a:t>
            </a:r>
            <a:r>
              <a:rPr lang="en-GB" sz="9600" b="1" dirty="0">
                <a:solidFill>
                  <a:srgbClr val="FF3399"/>
                </a:solidFill>
                <a:latin typeface="Arimo"/>
                <a:ea typeface="Arimo"/>
                <a:cs typeface="Arimo"/>
                <a:sym typeface="Arimo"/>
              </a:rPr>
              <a:t>Confidence</a:t>
            </a:r>
            <a:endParaRPr lang="en-US" sz="9600" b="1" dirty="0">
              <a:solidFill>
                <a:srgbClr val="FF339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677EDBF1-B78D-177A-84D1-16CD7775C8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AE5E1B-B642-30E2-C1AE-1D945A2AD110}"/>
              </a:ext>
            </a:extLst>
          </p:cNvPr>
          <p:cNvSpPr txBox="1"/>
          <p:nvPr/>
        </p:nvSpPr>
        <p:spPr>
          <a:xfrm>
            <a:off x="762000" y="4100110"/>
            <a:ext cx="23926800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Don’t expect to understand everything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Focus on one module at a time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Keep personal notes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Review merged PRs weekly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Ask questions publicly — it helps everyone 	</a:t>
            </a:r>
          </a:p>
        </p:txBody>
      </p:sp>
    </p:spTree>
    <p:extLst>
      <p:ext uri="{BB962C8B-B14F-4D97-AF65-F5344CB8AC3E}">
        <p14:creationId xmlns:p14="http://schemas.microsoft.com/office/powerpoint/2010/main" val="3291489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E26CFE-23FB-ADB6-E125-C8527F702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0B2D2F1-39EB-A017-3540-977455D73F8B}"/>
              </a:ext>
            </a:extLst>
          </p:cNvPr>
          <p:cNvSpPr txBox="1"/>
          <p:nvPr/>
        </p:nvSpPr>
        <p:spPr>
          <a:xfrm>
            <a:off x="9753600" y="6425768"/>
            <a:ext cx="20227282" cy="864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400">
              <a:lnSpc>
                <a:spcPts val="4800"/>
              </a:lnSpc>
              <a:defRPr/>
            </a:pPr>
            <a:r>
              <a:rPr lang="en-GB" sz="13800" b="1" dirty="0">
                <a:solidFill>
                  <a:srgbClr val="FF3399"/>
                </a:solidFill>
                <a:latin typeface="Arimo"/>
                <a:ea typeface="Arimo"/>
                <a:cs typeface="Arimo"/>
                <a:sym typeface="Arimo"/>
              </a:rPr>
              <a:t>Q &amp; A</a:t>
            </a:r>
            <a:endParaRPr lang="en-US" sz="13800" b="1" dirty="0">
              <a:solidFill>
                <a:srgbClr val="FF3399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199245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300</Words>
  <Application>Microsoft Office PowerPoint</Application>
  <PresentationFormat>Custom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Arial</vt:lpstr>
      <vt:lpstr>Mona-Sans 2</vt:lpstr>
      <vt:lpstr>Arimo</vt:lpstr>
      <vt:lpstr>Mona-Sans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 Speaker Deck (9).pdf</dc:title>
  <dc:creator>Dell</dc:creator>
  <cp:lastModifiedBy>Adeyinka J. Oresanya</cp:lastModifiedBy>
  <cp:revision>5</cp:revision>
  <dcterms:created xsi:type="dcterms:W3CDTF">2006-08-16T00:00:00Z</dcterms:created>
  <dcterms:modified xsi:type="dcterms:W3CDTF">2025-10-17T15:39:23Z</dcterms:modified>
  <dc:identifier>DAGUmmqmxyc</dc:identifier>
</cp:coreProperties>
</file>