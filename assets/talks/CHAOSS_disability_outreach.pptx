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Inter Tight Medium"/>
      <p:regular r:id="rId16"/>
      <p:bold r:id="rId17"/>
      <p:italic r:id="rId18"/>
      <p:boldItalic r:id="rId19"/>
    </p:embeddedFont>
    <p:embeddedFont>
      <p:font typeface="Inter Tight"/>
      <p:regular r:id="rId20"/>
      <p:bold r:id="rId21"/>
      <p:italic r:id="rId22"/>
      <p:boldItalic r:id="rId23"/>
    </p:embeddedFont>
    <p:embeddedFont>
      <p:font typeface="Inter Tight ExtraBold"/>
      <p:bold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47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7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Tight-regular.fntdata"/><Relationship Id="rId22" Type="http://schemas.openxmlformats.org/officeDocument/2006/relationships/font" Target="fonts/InterTight-italic.fntdata"/><Relationship Id="rId21" Type="http://schemas.openxmlformats.org/officeDocument/2006/relationships/font" Target="fonts/InterTight-bold.fntdata"/><Relationship Id="rId24" Type="http://schemas.openxmlformats.org/officeDocument/2006/relationships/font" Target="fonts/InterTightExtraBold-bold.fntdata"/><Relationship Id="rId23" Type="http://schemas.openxmlformats.org/officeDocument/2006/relationships/font" Target="fonts/InterTight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InterTightExtraBold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InterTightMedium-bold.fntdata"/><Relationship Id="rId16" Type="http://schemas.openxmlformats.org/officeDocument/2006/relationships/font" Target="fonts/InterTightMedium-regular.fntdata"/><Relationship Id="rId19" Type="http://schemas.openxmlformats.org/officeDocument/2006/relationships/font" Target="fonts/InterTightMedium-boldItalic.fntdata"/><Relationship Id="rId18" Type="http://schemas.openxmlformats.org/officeDocument/2006/relationships/font" Target="fonts/InterTightMedium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e1086da497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e1086da497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e1086da49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e1086da49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e2e5ee9d0d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2e2e5ee9d0d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e3338d9046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2e3338d9046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e2e5ee9d0d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2e2e5ee9d0d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e3338d9046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2e3338d9046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e3338d9046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2e3338d9046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e2e5ee9d0d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e2e5ee9d0d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e3338d9046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e3338d9046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e1496c1b5f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e1496c1b5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hyperlink" Target="https://github.com/chaoss/chaoss-slack-bot/wiki" TargetMode="External"/><Relationship Id="rId5" Type="http://schemas.openxmlformats.org/officeDocument/2006/relationships/hyperlink" Target="https://github.com/adeyinkaoresanya/badging-bot/blob/adeyinka-tutorial-contributions/TUTORIAL.md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hyperlink" Target="https://developers.google.com/tech-writing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263750" y="3947700"/>
            <a:ext cx="3243300" cy="5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212B44"/>
                </a:solidFill>
                <a:latin typeface="Inter Tight"/>
                <a:ea typeface="Inter Tight"/>
                <a:cs typeface="Inter Tight"/>
                <a:sym typeface="Inter Tight"/>
              </a:rPr>
              <a:t>Software engineer,</a:t>
            </a:r>
            <a:endParaRPr b="1" sz="1800">
              <a:solidFill>
                <a:srgbClr val="212B44"/>
              </a:solidFill>
              <a:latin typeface="Inter Tight"/>
              <a:ea typeface="Inter Tight"/>
              <a:cs typeface="Inter Tight"/>
              <a:sym typeface="Inter T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212B44"/>
                </a:solidFill>
                <a:latin typeface="Inter Tight"/>
                <a:ea typeface="Inter Tight"/>
                <a:cs typeface="Inter Tight"/>
                <a:sym typeface="Inter Tight"/>
              </a:rPr>
              <a:t>FireSwitch Technologies</a:t>
            </a:r>
            <a:endParaRPr b="1" sz="1800">
              <a:solidFill>
                <a:srgbClr val="212B44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263750" y="3309600"/>
            <a:ext cx="3178500" cy="63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212B44"/>
                </a:solidFill>
                <a:latin typeface="Inter Tight"/>
                <a:ea typeface="Inter Tight"/>
                <a:cs typeface="Inter Tight"/>
                <a:sym typeface="Inter Tight"/>
              </a:rPr>
              <a:t>Adeyinka Oresanya</a:t>
            </a:r>
            <a:endParaRPr b="1" sz="2400">
              <a:solidFill>
                <a:srgbClr val="212B44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366450" y="1543200"/>
            <a:ext cx="3919800" cy="12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212B44"/>
                </a:solidFill>
                <a:latin typeface="Inter Tight ExtraBold"/>
                <a:ea typeface="Inter Tight ExtraBold"/>
                <a:cs typeface="Inter Tight ExtraBold"/>
                <a:sym typeface="Inter Tight ExtraBold"/>
              </a:rPr>
              <a:t>Open Source Documentation</a:t>
            </a:r>
            <a:endParaRPr sz="3600">
              <a:solidFill>
                <a:srgbClr val="212B44"/>
              </a:solidFill>
              <a:latin typeface="Inter Tight ExtraBold"/>
              <a:ea typeface="Inter Tight ExtraBold"/>
              <a:cs typeface="Inter Tight ExtraBold"/>
              <a:sym typeface="Inter Tight ExtraBold"/>
            </a:endParaRPr>
          </a:p>
        </p:txBody>
      </p:sp>
      <p:pic>
        <p:nvPicPr>
          <p:cNvPr id="57" name="Google Shape;5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73375" y="1359825"/>
            <a:ext cx="3387873" cy="334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/>
        </p:nvSpPr>
        <p:spPr>
          <a:xfrm>
            <a:off x="1819775" y="1248275"/>
            <a:ext cx="735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347700" y="957475"/>
            <a:ext cx="82017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1D1C1D"/>
                </a:solidFill>
                <a:latin typeface="Inter Tight Medium"/>
                <a:ea typeface="Inter Tight Medium"/>
                <a:cs typeface="Inter Tight Medium"/>
                <a:sym typeface="Inter Tight Medium"/>
              </a:rPr>
              <a:t>The art of creating communicable materials used to instruct users or contributors of an open-source software on:</a:t>
            </a:r>
            <a:endParaRPr sz="2800">
              <a:solidFill>
                <a:srgbClr val="1D1C1D"/>
              </a:solidFill>
              <a:latin typeface="Inter Tight Medium"/>
              <a:ea typeface="Inter Tight Medium"/>
              <a:cs typeface="Inter Tight Medium"/>
              <a:sym typeface="Inter Tight Medium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2800"/>
              <a:buFont typeface="Inter Tight Medium"/>
              <a:buAutoNum type="arabicPeriod"/>
            </a:pPr>
            <a:r>
              <a:rPr lang="en" sz="2800">
                <a:solidFill>
                  <a:srgbClr val="1D1C1D"/>
                </a:solidFill>
                <a:latin typeface="Inter Tight Medium"/>
                <a:ea typeface="Inter Tight Medium"/>
                <a:cs typeface="Inter Tight Medium"/>
                <a:sym typeface="Inter Tight Medium"/>
              </a:rPr>
              <a:t>How it works</a:t>
            </a:r>
            <a:endParaRPr sz="2800">
              <a:solidFill>
                <a:srgbClr val="1D1C1D"/>
              </a:solidFill>
              <a:latin typeface="Inter Tight Medium"/>
              <a:ea typeface="Inter Tight Medium"/>
              <a:cs typeface="Inter Tight Medium"/>
              <a:sym typeface="Inter Tight Medium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2800"/>
              <a:buFont typeface="Inter Tight Medium"/>
              <a:buAutoNum type="arabicPeriod"/>
            </a:pPr>
            <a:r>
              <a:rPr lang="en" sz="2800">
                <a:solidFill>
                  <a:srgbClr val="1D1C1D"/>
                </a:solidFill>
                <a:latin typeface="Inter Tight Medium"/>
                <a:ea typeface="Inter Tight Medium"/>
                <a:cs typeface="Inter Tight Medium"/>
                <a:sym typeface="Inter Tight Medium"/>
              </a:rPr>
              <a:t>How to put it together (assembly &amp; installation)</a:t>
            </a:r>
            <a:endParaRPr sz="2800">
              <a:solidFill>
                <a:srgbClr val="1D1C1D"/>
              </a:solidFill>
              <a:latin typeface="Inter Tight Medium"/>
              <a:ea typeface="Inter Tight Medium"/>
              <a:cs typeface="Inter Tight Medium"/>
              <a:sym typeface="Inter Tight Medium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2800"/>
              <a:buFont typeface="Inter Tight Medium"/>
              <a:buAutoNum type="arabicPeriod"/>
            </a:pPr>
            <a:r>
              <a:rPr lang="en" sz="2800">
                <a:solidFill>
                  <a:srgbClr val="1D1C1D"/>
                </a:solidFill>
                <a:latin typeface="Inter Tight Medium"/>
                <a:ea typeface="Inter Tight Medium"/>
                <a:cs typeface="Inter Tight Medium"/>
                <a:sym typeface="Inter Tight Medium"/>
              </a:rPr>
              <a:t>How to use it</a:t>
            </a:r>
            <a:endParaRPr sz="2800">
              <a:solidFill>
                <a:srgbClr val="1D1C1D"/>
              </a:solidFill>
              <a:latin typeface="Inter Tight Medium"/>
              <a:ea typeface="Inter Tight Medium"/>
              <a:cs typeface="Inter Tight Medium"/>
              <a:sym typeface="Inter Tight Medium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2800"/>
              <a:buFont typeface="Inter Tight Medium"/>
              <a:buAutoNum type="arabicPeriod"/>
            </a:pPr>
            <a:r>
              <a:rPr lang="en" sz="2800">
                <a:solidFill>
                  <a:srgbClr val="1D1C1D"/>
                </a:solidFill>
                <a:latin typeface="Inter Tight Medium"/>
                <a:ea typeface="Inter Tight Medium"/>
                <a:cs typeface="Inter Tight Medium"/>
                <a:sym typeface="Inter Tight Medium"/>
              </a:rPr>
              <a:t>How to keep it running (maintenance).</a:t>
            </a:r>
            <a:endParaRPr sz="2800">
              <a:solidFill>
                <a:srgbClr val="1D1C1D"/>
              </a:solidFill>
              <a:latin typeface="Inter Tight Medium"/>
              <a:ea typeface="Inter Tight Medium"/>
              <a:cs typeface="Inter Tight Medium"/>
              <a:sym typeface="Inter Tigh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1D1C1D"/>
              </a:solidFill>
              <a:latin typeface="Inter Tight Medium"/>
              <a:ea typeface="Inter Tight Medium"/>
              <a:cs typeface="Inter Tight Medium"/>
              <a:sym typeface="Inter Tigh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1D1C1D"/>
              </a:solidFill>
              <a:latin typeface="Inter Tight Medium"/>
              <a:ea typeface="Inter Tight Medium"/>
              <a:cs typeface="Inter Tight Medium"/>
              <a:sym typeface="Inter Tight Medium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417475" y="159675"/>
            <a:ext cx="84486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1D1C1D"/>
                </a:solidFill>
                <a:latin typeface="Inter Tight"/>
                <a:ea typeface="Inter Tight"/>
                <a:cs typeface="Inter Tight"/>
                <a:sym typeface="Inter Tight"/>
              </a:rPr>
              <a:t>What is Open Source Documentation?</a:t>
            </a:r>
            <a:endParaRPr b="1" sz="3300">
              <a:solidFill>
                <a:srgbClr val="1D1C1D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/>
        </p:nvSpPr>
        <p:spPr>
          <a:xfrm>
            <a:off x="1819775" y="1248275"/>
            <a:ext cx="735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0" name="Google Shape;70;p15"/>
          <p:cNvSpPr txBox="1"/>
          <p:nvPr/>
        </p:nvSpPr>
        <p:spPr>
          <a:xfrm>
            <a:off x="296075" y="802550"/>
            <a:ext cx="8201700" cy="41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2600"/>
              <a:buFont typeface="Inter Tight Medium"/>
              <a:buChar char="●"/>
            </a:pPr>
            <a:r>
              <a:rPr lang="en" sz="2600">
                <a:solidFill>
                  <a:srgbClr val="1D1C1D"/>
                </a:solidFill>
                <a:latin typeface="Inter Tight Medium"/>
                <a:ea typeface="Inter Tight Medium"/>
                <a:cs typeface="Inter Tight Medium"/>
                <a:sym typeface="Inter Tight Medium"/>
              </a:rPr>
              <a:t>Empowers new contributors</a:t>
            </a:r>
            <a:endParaRPr sz="2600">
              <a:solidFill>
                <a:srgbClr val="1D1C1D"/>
              </a:solidFill>
              <a:latin typeface="Inter Tight Medium"/>
              <a:ea typeface="Inter Tight Medium"/>
              <a:cs typeface="Inter Tight Medium"/>
              <a:sym typeface="Inter Tight Medium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rgbClr val="1D1C1D"/>
              </a:solidFill>
              <a:latin typeface="Inter Tight Medium"/>
              <a:ea typeface="Inter Tight Medium"/>
              <a:cs typeface="Inter Tight Medium"/>
              <a:sym typeface="Inter Tight Medium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2600"/>
              <a:buFont typeface="Inter Tight Medium"/>
              <a:buChar char="●"/>
            </a:pPr>
            <a:r>
              <a:rPr lang="en" sz="2600">
                <a:solidFill>
                  <a:srgbClr val="1D1C1D"/>
                </a:solidFill>
                <a:latin typeface="Inter Tight Medium"/>
                <a:ea typeface="Inter Tight Medium"/>
                <a:cs typeface="Inter Tight Medium"/>
                <a:sym typeface="Inter Tight Medium"/>
              </a:rPr>
              <a:t>Attracts contributors to </a:t>
            </a:r>
            <a:r>
              <a:rPr lang="en" sz="2600">
                <a:solidFill>
                  <a:srgbClr val="1D1C1D"/>
                </a:solidFill>
                <a:latin typeface="Inter Tight Medium"/>
                <a:ea typeface="Inter Tight Medium"/>
                <a:cs typeface="Inter Tight Medium"/>
                <a:sym typeface="Inter Tight Medium"/>
              </a:rPr>
              <a:t>your</a:t>
            </a:r>
            <a:r>
              <a:rPr lang="en" sz="2600">
                <a:solidFill>
                  <a:srgbClr val="1D1C1D"/>
                </a:solidFill>
                <a:latin typeface="Inter Tight Medium"/>
                <a:ea typeface="Inter Tight Medium"/>
                <a:cs typeface="Inter Tight Medium"/>
                <a:sym typeface="Inter Tight Medium"/>
              </a:rPr>
              <a:t> project/community</a:t>
            </a:r>
            <a:endParaRPr sz="2600">
              <a:solidFill>
                <a:srgbClr val="1D1C1D"/>
              </a:solidFill>
              <a:latin typeface="Inter Tight Medium"/>
              <a:ea typeface="Inter Tight Medium"/>
              <a:cs typeface="Inter Tight Medium"/>
              <a:sym typeface="Inter Tight Medium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rgbClr val="1D1C1D"/>
              </a:solidFill>
              <a:latin typeface="Inter Tight Medium"/>
              <a:ea typeface="Inter Tight Medium"/>
              <a:cs typeface="Inter Tight Medium"/>
              <a:sym typeface="Inter Tight Medium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2600"/>
              <a:buFont typeface="Inter Tight Medium"/>
              <a:buChar char="●"/>
            </a:pPr>
            <a:r>
              <a:rPr lang="en" sz="2600">
                <a:solidFill>
                  <a:srgbClr val="1D1C1D"/>
                </a:solidFill>
                <a:latin typeface="Inter Tight Medium"/>
                <a:ea typeface="Inter Tight Medium"/>
                <a:cs typeface="Inter Tight Medium"/>
                <a:sym typeface="Inter Tight Medium"/>
              </a:rPr>
              <a:t>Ensures continuity and long-term sustainability</a:t>
            </a:r>
            <a:endParaRPr sz="2600">
              <a:solidFill>
                <a:srgbClr val="1D1C1D"/>
              </a:solidFill>
              <a:latin typeface="Inter Tight Medium"/>
              <a:ea typeface="Inter Tight Medium"/>
              <a:cs typeface="Inter Tight Medium"/>
              <a:sym typeface="Inter Tight Medium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rgbClr val="1D1C1D"/>
              </a:solidFill>
              <a:latin typeface="Inter Tight Medium"/>
              <a:ea typeface="Inter Tight Medium"/>
              <a:cs typeface="Inter Tight Medium"/>
              <a:sym typeface="Inter Tight Medium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2600"/>
              <a:buFont typeface="Inter Tight Medium"/>
              <a:buChar char="●"/>
            </a:pPr>
            <a:r>
              <a:rPr lang="en" sz="2600">
                <a:solidFill>
                  <a:srgbClr val="1D1C1D"/>
                </a:solidFill>
                <a:latin typeface="Inter Tight Medium"/>
                <a:ea typeface="Inter Tight Medium"/>
                <a:cs typeface="Inter Tight Medium"/>
                <a:sym typeface="Inter Tight Medium"/>
              </a:rPr>
              <a:t>Improves collaboration</a:t>
            </a:r>
            <a:endParaRPr sz="2600">
              <a:solidFill>
                <a:srgbClr val="1D1C1D"/>
              </a:solidFill>
              <a:latin typeface="Inter Tight Medium"/>
              <a:ea typeface="Inter Tight Medium"/>
              <a:cs typeface="Inter Tight Medium"/>
              <a:sym typeface="Inter Tight Medium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rgbClr val="1D1C1D"/>
              </a:solidFill>
              <a:latin typeface="Inter Tight Medium"/>
              <a:ea typeface="Inter Tight Medium"/>
              <a:cs typeface="Inter Tight Medium"/>
              <a:sym typeface="Inter Tight Medium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2600"/>
              <a:buFont typeface="Inter Tight Medium"/>
              <a:buChar char="●"/>
            </a:pPr>
            <a:r>
              <a:rPr lang="en" sz="2600">
                <a:solidFill>
                  <a:srgbClr val="1D1C1D"/>
                </a:solidFill>
                <a:latin typeface="Inter Tight Medium"/>
                <a:ea typeface="Inter Tight Medium"/>
                <a:cs typeface="Inter Tight Medium"/>
                <a:sym typeface="Inter Tight Medium"/>
              </a:rPr>
              <a:t>Reduces support burden</a:t>
            </a:r>
            <a:endParaRPr sz="2600">
              <a:solidFill>
                <a:srgbClr val="1D1C1D"/>
              </a:solidFill>
              <a:latin typeface="Inter Tight Medium"/>
              <a:ea typeface="Inter Tight Medium"/>
              <a:cs typeface="Inter Tight Medium"/>
              <a:sym typeface="Inter Tigh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rgbClr val="1D1C1D"/>
              </a:solidFill>
              <a:latin typeface="Inter Tight Medium"/>
              <a:ea typeface="Inter Tight Medium"/>
              <a:cs typeface="Inter Tight Medium"/>
              <a:sym typeface="Inter Tight Medium"/>
            </a:endParaRPr>
          </a:p>
        </p:txBody>
      </p:sp>
      <p:sp>
        <p:nvSpPr>
          <p:cNvPr id="71" name="Google Shape;71;p15"/>
          <p:cNvSpPr txBox="1"/>
          <p:nvPr/>
        </p:nvSpPr>
        <p:spPr>
          <a:xfrm>
            <a:off x="417475" y="159675"/>
            <a:ext cx="84486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1D1C1D"/>
                </a:solidFill>
                <a:latin typeface="Inter Tight"/>
                <a:ea typeface="Inter Tight"/>
                <a:cs typeface="Inter Tight"/>
                <a:sym typeface="Inter Tight"/>
              </a:rPr>
              <a:t>Why Documentation?</a:t>
            </a:r>
            <a:endParaRPr b="1" sz="3300">
              <a:solidFill>
                <a:srgbClr val="1D1C1D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/>
        </p:nvSpPr>
        <p:spPr>
          <a:xfrm>
            <a:off x="1819775" y="1248275"/>
            <a:ext cx="735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7" name="Google Shape;77;p16"/>
          <p:cNvSpPr txBox="1"/>
          <p:nvPr/>
        </p:nvSpPr>
        <p:spPr>
          <a:xfrm>
            <a:off x="296075" y="802550"/>
            <a:ext cx="8201700" cy="33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2600"/>
              <a:buFont typeface="Inter Tight Medium"/>
              <a:buChar char="●"/>
            </a:pPr>
            <a:r>
              <a:rPr lang="en" sz="2600">
                <a:solidFill>
                  <a:srgbClr val="1D1C1D"/>
                </a:solidFill>
                <a:latin typeface="Inter Tight Medium"/>
                <a:ea typeface="Inter Tight Medium"/>
                <a:cs typeface="Inter Tight Medium"/>
                <a:sym typeface="Inter Tight Medium"/>
              </a:rPr>
              <a:t>When onboarding new users and contributors.</a:t>
            </a:r>
            <a:endParaRPr sz="2600">
              <a:solidFill>
                <a:srgbClr val="1D1C1D"/>
              </a:solidFill>
              <a:latin typeface="Inter Tight Medium"/>
              <a:ea typeface="Inter Tight Medium"/>
              <a:cs typeface="Inter Tight Medium"/>
              <a:sym typeface="Inter Tight Medium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rgbClr val="1D1C1D"/>
              </a:solidFill>
              <a:latin typeface="Inter Tight Medium"/>
              <a:ea typeface="Inter Tight Medium"/>
              <a:cs typeface="Inter Tight Medium"/>
              <a:sym typeface="Inter Tight Medium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2600"/>
              <a:buFont typeface="Inter Tight Medium"/>
              <a:buChar char="●"/>
            </a:pPr>
            <a:r>
              <a:rPr lang="en" sz="2600">
                <a:solidFill>
                  <a:srgbClr val="1D1C1D"/>
                </a:solidFill>
                <a:latin typeface="Inter Tight Medium"/>
                <a:ea typeface="Inter Tight Medium"/>
                <a:cs typeface="Inter Tight Medium"/>
                <a:sym typeface="Inter Tight Medium"/>
              </a:rPr>
              <a:t>When introducing new features or functionalities.</a:t>
            </a:r>
            <a:endParaRPr sz="2600">
              <a:solidFill>
                <a:srgbClr val="1D1C1D"/>
              </a:solidFill>
              <a:latin typeface="Inter Tight Medium"/>
              <a:ea typeface="Inter Tight Medium"/>
              <a:cs typeface="Inter Tight Medium"/>
              <a:sym typeface="Inter Tight Medium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rgbClr val="1D1C1D"/>
              </a:solidFill>
              <a:latin typeface="Inter Tight Medium"/>
              <a:ea typeface="Inter Tight Medium"/>
              <a:cs typeface="Inter Tight Medium"/>
              <a:sym typeface="Inter Tight Medium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2600"/>
              <a:buFont typeface="Inter Tight Medium"/>
              <a:buChar char="●"/>
            </a:pPr>
            <a:r>
              <a:rPr lang="en" sz="2600">
                <a:solidFill>
                  <a:srgbClr val="1D1C1D"/>
                </a:solidFill>
                <a:latin typeface="Inter Tight Medium"/>
                <a:ea typeface="Inter Tight Medium"/>
                <a:cs typeface="Inter Tight Medium"/>
                <a:sym typeface="Inter Tight Medium"/>
              </a:rPr>
              <a:t>When resolving bugs and technical issues.</a:t>
            </a:r>
            <a:endParaRPr sz="2600">
              <a:solidFill>
                <a:srgbClr val="1D1C1D"/>
              </a:solidFill>
              <a:latin typeface="Inter Tight Medium"/>
              <a:ea typeface="Inter Tight Medium"/>
              <a:cs typeface="Inter Tight Medium"/>
              <a:sym typeface="Inter Tight Medium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rgbClr val="1D1C1D"/>
              </a:solidFill>
              <a:latin typeface="Inter Tight Medium"/>
              <a:ea typeface="Inter Tight Medium"/>
              <a:cs typeface="Inter Tight Medium"/>
              <a:sym typeface="Inter Tight Medium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2600"/>
              <a:buFont typeface="Inter Tight Medium"/>
              <a:buChar char="●"/>
            </a:pPr>
            <a:r>
              <a:rPr lang="en" sz="2600">
                <a:solidFill>
                  <a:srgbClr val="1D1C1D"/>
                </a:solidFill>
                <a:latin typeface="Inter Tight Medium"/>
                <a:ea typeface="Inter Tight Medium"/>
                <a:cs typeface="Inter Tight Medium"/>
                <a:sym typeface="Inter Tight Medium"/>
              </a:rPr>
              <a:t>When seeking community feedback and contributions.</a:t>
            </a:r>
            <a:endParaRPr sz="2600">
              <a:solidFill>
                <a:srgbClr val="1D1C1D"/>
              </a:solidFill>
              <a:latin typeface="Inter Tight Medium"/>
              <a:ea typeface="Inter Tight Medium"/>
              <a:cs typeface="Inter Tight Medium"/>
              <a:sym typeface="Inter Tight Medium"/>
            </a:endParaRPr>
          </a:p>
        </p:txBody>
      </p:sp>
      <p:sp>
        <p:nvSpPr>
          <p:cNvPr id="78" name="Google Shape;78;p16"/>
          <p:cNvSpPr txBox="1"/>
          <p:nvPr/>
        </p:nvSpPr>
        <p:spPr>
          <a:xfrm>
            <a:off x="202325" y="47675"/>
            <a:ext cx="110556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200">
                <a:solidFill>
                  <a:srgbClr val="1D1C1D"/>
                </a:solidFill>
                <a:latin typeface="Inter Tight"/>
                <a:ea typeface="Inter Tight"/>
                <a:cs typeface="Inter Tight"/>
                <a:sym typeface="Inter Tight"/>
              </a:rPr>
              <a:t>When is Open Source Documentation Crucial?</a:t>
            </a:r>
            <a:endParaRPr b="1" sz="3200">
              <a:solidFill>
                <a:srgbClr val="1D1C1D"/>
              </a:solidFill>
              <a:latin typeface="Inter Tight"/>
              <a:ea typeface="Inter Tight"/>
              <a:cs typeface="Inter Tight"/>
              <a:sym typeface="Inter T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3200">
              <a:solidFill>
                <a:srgbClr val="1D1C1D"/>
              </a:solidFill>
              <a:latin typeface="Inter Tight"/>
              <a:ea typeface="Inter Tight"/>
              <a:cs typeface="Inter Tight"/>
              <a:sym typeface="Inter T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1D1C1D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/>
        </p:nvSpPr>
        <p:spPr>
          <a:xfrm>
            <a:off x="1819775" y="1248275"/>
            <a:ext cx="735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4" name="Google Shape;84;p17"/>
          <p:cNvSpPr txBox="1"/>
          <p:nvPr/>
        </p:nvSpPr>
        <p:spPr>
          <a:xfrm>
            <a:off x="347700" y="1205375"/>
            <a:ext cx="8201700" cy="3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1D1C1D"/>
                </a:solidFill>
                <a:latin typeface="Inter Tight Medium"/>
                <a:ea typeface="Inter Tight Medium"/>
                <a:cs typeface="Inter Tight Medium"/>
                <a:sym typeface="Inter Tight Medium"/>
              </a:rPr>
              <a:t>•	Early and Often </a:t>
            </a:r>
            <a:endParaRPr sz="2800">
              <a:solidFill>
                <a:srgbClr val="1D1C1D"/>
              </a:solidFill>
              <a:latin typeface="Inter Tight Medium"/>
              <a:ea typeface="Inter Tight Medium"/>
              <a:cs typeface="Inter Tight Medium"/>
              <a:sym typeface="Inter Tigh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1D1C1D"/>
              </a:solidFill>
              <a:latin typeface="Inter Tight Medium"/>
              <a:ea typeface="Inter Tight Medium"/>
              <a:cs typeface="Inter Tight Medium"/>
              <a:sym typeface="Inter Tigh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1D1C1D"/>
                </a:solidFill>
                <a:latin typeface="Inter Tight Medium"/>
                <a:ea typeface="Inter Tight Medium"/>
                <a:cs typeface="Inter Tight Medium"/>
                <a:sym typeface="Inter Tight Medium"/>
              </a:rPr>
              <a:t>•	During Development</a:t>
            </a:r>
            <a:endParaRPr sz="2800">
              <a:solidFill>
                <a:srgbClr val="1D1C1D"/>
              </a:solidFill>
              <a:latin typeface="Inter Tight Medium"/>
              <a:ea typeface="Inter Tight Medium"/>
              <a:cs typeface="Inter Tight Medium"/>
              <a:sym typeface="Inter Tigh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1D1C1D"/>
              </a:solidFill>
              <a:latin typeface="Inter Tight Medium"/>
              <a:ea typeface="Inter Tight Medium"/>
              <a:cs typeface="Inter Tight Medium"/>
              <a:sym typeface="Inter Tigh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1D1C1D"/>
                </a:solidFill>
                <a:latin typeface="Inter Tight Medium"/>
                <a:ea typeface="Inter Tight Medium"/>
                <a:cs typeface="Inter Tight Medium"/>
                <a:sym typeface="Inter Tight Medium"/>
              </a:rPr>
              <a:t>•	For New Releases</a:t>
            </a:r>
            <a:endParaRPr sz="2800">
              <a:solidFill>
                <a:srgbClr val="1D1C1D"/>
              </a:solidFill>
              <a:latin typeface="Inter Tight Medium"/>
              <a:ea typeface="Inter Tight Medium"/>
              <a:cs typeface="Inter Tight Medium"/>
              <a:sym typeface="Inter Tigh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1D1C1D"/>
              </a:solidFill>
              <a:latin typeface="Inter Tight Medium"/>
              <a:ea typeface="Inter Tight Medium"/>
              <a:cs typeface="Inter Tight Medium"/>
              <a:sym typeface="Inter Tigh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1D1C1D"/>
                </a:solidFill>
                <a:latin typeface="Inter Tight Medium"/>
                <a:ea typeface="Inter Tight Medium"/>
                <a:cs typeface="Inter Tight Medium"/>
                <a:sym typeface="Inter Tight Medium"/>
              </a:rPr>
              <a:t>•	When Issues Arise</a:t>
            </a:r>
            <a:endParaRPr sz="2800">
              <a:solidFill>
                <a:srgbClr val="1D1C1D"/>
              </a:solidFill>
              <a:latin typeface="Inter Tight Medium"/>
              <a:ea typeface="Inter Tight Medium"/>
              <a:cs typeface="Inter Tight Medium"/>
              <a:sym typeface="Inter Tight Medium"/>
            </a:endParaRPr>
          </a:p>
        </p:txBody>
      </p:sp>
      <p:sp>
        <p:nvSpPr>
          <p:cNvPr id="85" name="Google Shape;85;p17"/>
          <p:cNvSpPr txBox="1"/>
          <p:nvPr/>
        </p:nvSpPr>
        <p:spPr>
          <a:xfrm>
            <a:off x="634350" y="159675"/>
            <a:ext cx="8448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1D1C1D"/>
                </a:solidFill>
                <a:latin typeface="Inter Tight"/>
                <a:ea typeface="Inter Tight"/>
                <a:cs typeface="Inter Tight"/>
                <a:sym typeface="Inter Tight"/>
              </a:rPr>
              <a:t>When to Write Open Source Documentation</a:t>
            </a:r>
            <a:endParaRPr b="1" sz="3200">
              <a:solidFill>
                <a:srgbClr val="1D1C1D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descr="A circular diagram illustrating a continuous integration software development process. The four stages are: Code New Features, Write Docs, Fix Bugs, and Continuous Integration Open Source Software." id="86" name="Google Shape;86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0400" y="1133075"/>
            <a:ext cx="3880625" cy="3038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/>
        </p:nvSpPr>
        <p:spPr>
          <a:xfrm>
            <a:off x="1819775" y="1248275"/>
            <a:ext cx="735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2" name="Google Shape;92;p18"/>
          <p:cNvSpPr txBox="1"/>
          <p:nvPr/>
        </p:nvSpPr>
        <p:spPr>
          <a:xfrm>
            <a:off x="347700" y="1205375"/>
            <a:ext cx="8201700" cy="39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2800"/>
              <a:buFont typeface="Inter Tight Medium"/>
              <a:buChar char="●"/>
            </a:pPr>
            <a:r>
              <a:rPr lang="en" sz="2800">
                <a:solidFill>
                  <a:srgbClr val="1D1C1D"/>
                </a:solidFill>
                <a:latin typeface="Inter Tight Medium"/>
                <a:ea typeface="Inter Tight Medium"/>
                <a:cs typeface="Inter Tight Medium"/>
                <a:sym typeface="Inter Tight Medium"/>
              </a:rPr>
              <a:t>Project websites and wikis: e.g. </a:t>
            </a:r>
            <a:r>
              <a:rPr lang="en" sz="2200" u="sng">
                <a:solidFill>
                  <a:schemeClr val="hlink"/>
                </a:solidFill>
                <a:latin typeface="Inter Tight Medium"/>
                <a:ea typeface="Inter Tight Medium"/>
                <a:cs typeface="Inter Tight Medium"/>
                <a:sym typeface="Inter Tight Medium"/>
                <a:hlinkClick r:id="rId4"/>
              </a:rPr>
              <a:t>https://github.com/chaoss/chaoss-slack-bot/wiki</a:t>
            </a:r>
            <a:r>
              <a:rPr lang="en" sz="2200">
                <a:solidFill>
                  <a:srgbClr val="1D1C1D"/>
                </a:solidFill>
                <a:latin typeface="Inter Tight Medium"/>
                <a:ea typeface="Inter Tight Medium"/>
                <a:cs typeface="Inter Tight Medium"/>
                <a:sym typeface="Inter Tight Medium"/>
              </a:rPr>
              <a:t> </a:t>
            </a:r>
            <a:endParaRPr sz="2200">
              <a:solidFill>
                <a:srgbClr val="1D1C1D"/>
              </a:solidFill>
              <a:latin typeface="Inter Tight Medium"/>
              <a:ea typeface="Inter Tight Medium"/>
              <a:cs typeface="Inter Tight Medium"/>
              <a:sym typeface="Inter Tight Medium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1D1C1D"/>
              </a:solidFill>
              <a:latin typeface="Inter Tight Medium"/>
              <a:ea typeface="Inter Tight Medium"/>
              <a:cs typeface="Inter Tight Medium"/>
              <a:sym typeface="Inter Tight Medium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2800"/>
              <a:buFont typeface="Inter Tight Medium"/>
              <a:buChar char="●"/>
            </a:pPr>
            <a:r>
              <a:rPr lang="en" sz="2800">
                <a:solidFill>
                  <a:srgbClr val="1D1C1D"/>
                </a:solidFill>
                <a:latin typeface="Inter Tight Medium"/>
                <a:ea typeface="Inter Tight Medium"/>
                <a:cs typeface="Inter Tight Medium"/>
                <a:sym typeface="Inter Tight Medium"/>
              </a:rPr>
              <a:t>Collaboration platforms like GitHub, GitLab:  e.g. </a:t>
            </a:r>
            <a:r>
              <a:rPr lang="en" sz="2200" u="sng">
                <a:solidFill>
                  <a:schemeClr val="hlink"/>
                </a:solidFill>
                <a:latin typeface="Inter Tight Medium"/>
                <a:ea typeface="Inter Tight Medium"/>
                <a:cs typeface="Inter Tight Medium"/>
                <a:sym typeface="Inter Tight Medium"/>
                <a:hlinkClick r:id="rId5"/>
              </a:rPr>
              <a:t>https://github.com/adeyinkaoresanya/badging-bot/blob/adeyinka-tutorial-contributions/TUTORIAL.md</a:t>
            </a:r>
            <a:r>
              <a:rPr lang="en" sz="2200">
                <a:solidFill>
                  <a:srgbClr val="1D1C1D"/>
                </a:solidFill>
                <a:latin typeface="Inter Tight Medium"/>
                <a:ea typeface="Inter Tight Medium"/>
                <a:cs typeface="Inter Tight Medium"/>
                <a:sym typeface="Inter Tight Medium"/>
              </a:rPr>
              <a:t> </a:t>
            </a:r>
            <a:endParaRPr sz="2200">
              <a:solidFill>
                <a:srgbClr val="1D1C1D"/>
              </a:solidFill>
              <a:latin typeface="Inter Tight Medium"/>
              <a:ea typeface="Inter Tight Medium"/>
              <a:cs typeface="Inter Tight Medium"/>
              <a:sym typeface="Inter Tight Medium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1D1C1D"/>
              </a:solidFill>
              <a:latin typeface="Inter Tight Medium"/>
              <a:ea typeface="Inter Tight Medium"/>
              <a:cs typeface="Inter Tight Medium"/>
              <a:sym typeface="Inter Tight Medium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2800"/>
              <a:buFont typeface="Inter Tight Medium"/>
              <a:buChar char="●"/>
            </a:pPr>
            <a:r>
              <a:rPr lang="en" sz="2800">
                <a:solidFill>
                  <a:srgbClr val="1D1C1D"/>
                </a:solidFill>
                <a:latin typeface="Inter Tight Medium"/>
                <a:ea typeface="Inter Tight Medium"/>
                <a:cs typeface="Inter Tight Medium"/>
                <a:sym typeface="Inter Tight Medium"/>
              </a:rPr>
              <a:t>Community forums and mailing lists </a:t>
            </a:r>
            <a:endParaRPr sz="2800">
              <a:solidFill>
                <a:srgbClr val="1D1C1D"/>
              </a:solidFill>
              <a:latin typeface="Inter Tight Medium"/>
              <a:ea typeface="Inter Tight Medium"/>
              <a:cs typeface="Inter Tight Medium"/>
              <a:sym typeface="Inter Tigh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1D1C1D"/>
              </a:solidFill>
              <a:latin typeface="Inter Tight Medium"/>
              <a:ea typeface="Inter Tight Medium"/>
              <a:cs typeface="Inter Tight Medium"/>
              <a:sym typeface="Inter Tigh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1D1C1D"/>
              </a:solidFill>
              <a:latin typeface="Inter Tight Medium"/>
              <a:ea typeface="Inter Tight Medium"/>
              <a:cs typeface="Inter Tight Medium"/>
              <a:sym typeface="Inter Tight Medium"/>
            </a:endParaRPr>
          </a:p>
        </p:txBody>
      </p:sp>
      <p:sp>
        <p:nvSpPr>
          <p:cNvPr id="93" name="Google Shape;93;p18"/>
          <p:cNvSpPr txBox="1"/>
          <p:nvPr/>
        </p:nvSpPr>
        <p:spPr>
          <a:xfrm>
            <a:off x="804275" y="169925"/>
            <a:ext cx="93852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200">
                <a:solidFill>
                  <a:srgbClr val="1D1C1D"/>
                </a:solidFill>
                <a:latin typeface="Inter Tight"/>
                <a:ea typeface="Inter Tight"/>
                <a:cs typeface="Inter Tight"/>
                <a:sym typeface="Inter Tight"/>
              </a:rPr>
              <a:t>Where can OS Documentation be found?</a:t>
            </a:r>
            <a:endParaRPr b="1" sz="3200">
              <a:solidFill>
                <a:srgbClr val="1D1C1D"/>
              </a:solidFill>
              <a:latin typeface="Inter Tight"/>
              <a:ea typeface="Inter Tight"/>
              <a:cs typeface="Inter Tight"/>
              <a:sym typeface="Inter T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3200">
              <a:solidFill>
                <a:srgbClr val="1D1C1D"/>
              </a:solidFill>
              <a:latin typeface="Inter Tight"/>
              <a:ea typeface="Inter Tight"/>
              <a:cs typeface="Inter Tight"/>
              <a:sym typeface="Inter T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1D1C1D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/>
        </p:nvSpPr>
        <p:spPr>
          <a:xfrm>
            <a:off x="1819775" y="1248275"/>
            <a:ext cx="735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9" name="Google Shape;99;p19"/>
          <p:cNvSpPr txBox="1"/>
          <p:nvPr/>
        </p:nvSpPr>
        <p:spPr>
          <a:xfrm>
            <a:off x="347700" y="1205375"/>
            <a:ext cx="8201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1D1C1D"/>
              </a:solidFill>
              <a:latin typeface="Inter Tight Medium"/>
              <a:ea typeface="Inter Tight Medium"/>
              <a:cs typeface="Inter Tight Medium"/>
              <a:sym typeface="Inter Tight Medium"/>
            </a:endParaRPr>
          </a:p>
        </p:txBody>
      </p:sp>
      <p:sp>
        <p:nvSpPr>
          <p:cNvPr id="100" name="Google Shape;100;p19"/>
          <p:cNvSpPr txBox="1"/>
          <p:nvPr/>
        </p:nvSpPr>
        <p:spPr>
          <a:xfrm>
            <a:off x="634350" y="159675"/>
            <a:ext cx="8448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1D1C1D"/>
                </a:solidFill>
                <a:latin typeface="Inter Tight"/>
                <a:ea typeface="Inter Tight"/>
                <a:cs typeface="Inter Tight"/>
                <a:sym typeface="Inter Tight"/>
              </a:rPr>
              <a:t>Tools and platforms used for collaboration</a:t>
            </a:r>
            <a:endParaRPr b="1" sz="3200">
              <a:solidFill>
                <a:srgbClr val="1D1C1D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01" name="Google Shape;101;p19"/>
          <p:cNvSpPr txBox="1"/>
          <p:nvPr/>
        </p:nvSpPr>
        <p:spPr>
          <a:xfrm>
            <a:off x="265500" y="1156600"/>
            <a:ext cx="8613000" cy="21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2600"/>
              <a:buFont typeface="Inter Tight Medium"/>
              <a:buChar char="●"/>
            </a:pPr>
            <a:r>
              <a:rPr lang="en" sz="2600">
                <a:solidFill>
                  <a:srgbClr val="1D1C1D"/>
                </a:solidFill>
                <a:latin typeface="Inter Tight Medium"/>
                <a:ea typeface="Inter Tight Medium"/>
                <a:cs typeface="Inter Tight Medium"/>
                <a:sym typeface="Inter Tight Medium"/>
              </a:rPr>
              <a:t>GitHub, GitLab, BitBucket</a:t>
            </a:r>
            <a:endParaRPr sz="2600">
              <a:solidFill>
                <a:srgbClr val="1D1C1D"/>
              </a:solidFill>
              <a:latin typeface="Inter Tight Medium"/>
              <a:ea typeface="Inter Tight Medium"/>
              <a:cs typeface="Inter Tight Medium"/>
              <a:sym typeface="Inter Tight Medium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rgbClr val="1D1C1D"/>
              </a:solidFill>
              <a:latin typeface="Inter Tight Medium"/>
              <a:ea typeface="Inter Tight Medium"/>
              <a:cs typeface="Inter Tight Medium"/>
              <a:sym typeface="Inter Tight Medium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2600"/>
              <a:buFont typeface="Inter Tight Medium"/>
              <a:buChar char="●"/>
            </a:pPr>
            <a:r>
              <a:rPr lang="en" sz="2600">
                <a:solidFill>
                  <a:srgbClr val="1D1C1D"/>
                </a:solidFill>
                <a:latin typeface="Inter Tight Medium"/>
                <a:ea typeface="Inter Tight Medium"/>
                <a:cs typeface="Inter Tight Medium"/>
                <a:sym typeface="Inter Tight Medium"/>
              </a:rPr>
              <a:t>READMe, Google Docs, Confluence, Read the Docs</a:t>
            </a:r>
            <a:endParaRPr sz="2600">
              <a:solidFill>
                <a:srgbClr val="1D1C1D"/>
              </a:solidFill>
              <a:latin typeface="Inter Tight Medium"/>
              <a:ea typeface="Inter Tight Medium"/>
              <a:cs typeface="Inter Tight Medium"/>
              <a:sym typeface="Inter Tight Medium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rgbClr val="1D1C1D"/>
              </a:solidFill>
              <a:latin typeface="Inter Tight Medium"/>
              <a:ea typeface="Inter Tight Medium"/>
              <a:cs typeface="Inter Tight Medium"/>
              <a:sym typeface="Inter Tight Medium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2600"/>
              <a:buFont typeface="Inter Tight Medium"/>
              <a:buChar char="●"/>
            </a:pPr>
            <a:r>
              <a:rPr lang="en" sz="2600">
                <a:solidFill>
                  <a:srgbClr val="1D1C1D"/>
                </a:solidFill>
                <a:latin typeface="Inter Tight Medium"/>
                <a:ea typeface="Inter Tight Medium"/>
                <a:cs typeface="Inter Tight Medium"/>
                <a:sym typeface="Inter Tight Medium"/>
              </a:rPr>
              <a:t>Slack channel, Discord</a:t>
            </a:r>
            <a:endParaRPr sz="2600">
              <a:solidFill>
                <a:srgbClr val="1D1C1D"/>
              </a:solidFill>
              <a:latin typeface="Inter Tight Medium"/>
              <a:ea typeface="Inter Tight Medium"/>
              <a:cs typeface="Inter Tight Medium"/>
              <a:sym typeface="Inter Tight Mediu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/>
          <p:nvPr/>
        </p:nvSpPr>
        <p:spPr>
          <a:xfrm>
            <a:off x="1819775" y="1248275"/>
            <a:ext cx="735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7" name="Google Shape;107;p20"/>
          <p:cNvSpPr txBox="1"/>
          <p:nvPr/>
        </p:nvSpPr>
        <p:spPr>
          <a:xfrm>
            <a:off x="419400" y="785275"/>
            <a:ext cx="8201700" cy="33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2600"/>
              <a:buFont typeface="Inter Tight Medium"/>
              <a:buChar char="●"/>
            </a:pPr>
            <a:r>
              <a:rPr lang="en" sz="2600">
                <a:solidFill>
                  <a:srgbClr val="1D1C1D"/>
                </a:solidFill>
                <a:latin typeface="Inter Tight Medium"/>
                <a:ea typeface="Inter Tight Medium"/>
                <a:cs typeface="Inter Tight Medium"/>
                <a:sym typeface="Inter Tight Medium"/>
              </a:rPr>
              <a:t>Take a course in technical writing (e.g. </a:t>
            </a:r>
            <a:r>
              <a:rPr lang="en" sz="2600" u="sng">
                <a:solidFill>
                  <a:schemeClr val="hlink"/>
                </a:solidFill>
                <a:latin typeface="Inter Tight Medium"/>
                <a:ea typeface="Inter Tight Medium"/>
                <a:cs typeface="Inter Tight Medium"/>
                <a:sym typeface="Inter Tight Medium"/>
                <a:hlinkClick r:id="rId4"/>
              </a:rPr>
              <a:t>https://developers.google.com/tech-writing</a:t>
            </a:r>
            <a:r>
              <a:rPr lang="en" sz="2600">
                <a:solidFill>
                  <a:srgbClr val="1D1C1D"/>
                </a:solidFill>
                <a:latin typeface="Inter Tight Medium"/>
                <a:ea typeface="Inter Tight Medium"/>
                <a:cs typeface="Inter Tight Medium"/>
                <a:sym typeface="Inter Tight Medium"/>
              </a:rPr>
              <a:t>)</a:t>
            </a:r>
            <a:endParaRPr sz="2600">
              <a:solidFill>
                <a:srgbClr val="1D1C1D"/>
              </a:solidFill>
              <a:latin typeface="Inter Tight Medium"/>
              <a:ea typeface="Inter Tight Medium"/>
              <a:cs typeface="Inter Tight Medium"/>
              <a:sym typeface="Inter Tigh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rgbClr val="1D1C1D"/>
              </a:solidFill>
              <a:latin typeface="Inter Tight Medium"/>
              <a:ea typeface="Inter Tight Medium"/>
              <a:cs typeface="Inter Tight Medium"/>
              <a:sym typeface="Inter Tight Medium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2600"/>
              <a:buFont typeface="Inter Tight Medium"/>
              <a:buChar char="●"/>
            </a:pPr>
            <a:r>
              <a:rPr lang="en" sz="2600">
                <a:solidFill>
                  <a:srgbClr val="1D1C1D"/>
                </a:solidFill>
                <a:latin typeface="Inter Tight Medium"/>
                <a:ea typeface="Inter Tight Medium"/>
                <a:cs typeface="Inter Tight Medium"/>
                <a:sym typeface="Inter Tight Medium"/>
              </a:rPr>
              <a:t>Read documentation made by other people.</a:t>
            </a:r>
            <a:endParaRPr sz="2600">
              <a:solidFill>
                <a:srgbClr val="1D1C1D"/>
              </a:solidFill>
              <a:latin typeface="Inter Tight Medium"/>
              <a:ea typeface="Inter Tight Medium"/>
              <a:cs typeface="Inter Tight Medium"/>
              <a:sym typeface="Inter Tigh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rgbClr val="1D1C1D"/>
              </a:solidFill>
              <a:latin typeface="Inter Tight Medium"/>
              <a:ea typeface="Inter Tight Medium"/>
              <a:cs typeface="Inter Tight Medium"/>
              <a:sym typeface="Inter Tight Medium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2600"/>
              <a:buFont typeface="Inter Tight Medium"/>
              <a:buChar char="●"/>
            </a:pPr>
            <a:r>
              <a:rPr lang="en" sz="2600">
                <a:solidFill>
                  <a:srgbClr val="1D1C1D"/>
                </a:solidFill>
                <a:latin typeface="Inter Tight Medium"/>
                <a:ea typeface="Inter Tight Medium"/>
                <a:cs typeface="Inter Tight Medium"/>
                <a:sym typeface="Inter Tight Medium"/>
              </a:rPr>
              <a:t>Join the OSS community if the project has one. </a:t>
            </a:r>
            <a:endParaRPr sz="2600">
              <a:solidFill>
                <a:srgbClr val="1D1C1D"/>
              </a:solidFill>
              <a:latin typeface="Inter Tight Medium"/>
              <a:ea typeface="Inter Tight Medium"/>
              <a:cs typeface="Inter Tight Medium"/>
              <a:sym typeface="Inter Tight Medium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rgbClr val="1D1C1D"/>
              </a:solidFill>
              <a:latin typeface="Inter Tight Medium"/>
              <a:ea typeface="Inter Tight Medium"/>
              <a:cs typeface="Inter Tight Medium"/>
              <a:sym typeface="Inter Tight Medium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2600"/>
              <a:buFont typeface="Inter Tight Medium"/>
              <a:buChar char="●"/>
            </a:pPr>
            <a:r>
              <a:rPr lang="en" sz="2600">
                <a:solidFill>
                  <a:srgbClr val="1D1C1D"/>
                </a:solidFill>
                <a:latin typeface="Inter Tight Medium"/>
                <a:ea typeface="Inter Tight Medium"/>
                <a:cs typeface="Inter Tight Medium"/>
                <a:sym typeface="Inter Tight Medium"/>
              </a:rPr>
              <a:t>Use the project/product to understand how it works.</a:t>
            </a:r>
            <a:endParaRPr sz="2600">
              <a:solidFill>
                <a:srgbClr val="1D1C1D"/>
              </a:solidFill>
              <a:latin typeface="Inter Tight Medium"/>
              <a:ea typeface="Inter Tight Medium"/>
              <a:cs typeface="Inter Tight Medium"/>
              <a:sym typeface="Inter Tight Medium"/>
            </a:endParaRPr>
          </a:p>
        </p:txBody>
      </p:sp>
      <p:sp>
        <p:nvSpPr>
          <p:cNvPr id="108" name="Google Shape;108;p20"/>
          <p:cNvSpPr txBox="1"/>
          <p:nvPr/>
        </p:nvSpPr>
        <p:spPr>
          <a:xfrm>
            <a:off x="634350" y="159675"/>
            <a:ext cx="8448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1D1C1D"/>
                </a:solidFill>
                <a:latin typeface="Inter Tight"/>
                <a:ea typeface="Inter Tight"/>
                <a:cs typeface="Inter Tight"/>
                <a:sym typeface="Inter Tight"/>
              </a:rPr>
              <a:t>How to get started contributing to OS Docs</a:t>
            </a:r>
            <a:endParaRPr b="1" sz="3200">
              <a:solidFill>
                <a:srgbClr val="1D1C1D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/>
        </p:nvSpPr>
        <p:spPr>
          <a:xfrm>
            <a:off x="1819775" y="1248275"/>
            <a:ext cx="735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4" name="Google Shape;114;p21"/>
          <p:cNvSpPr txBox="1"/>
          <p:nvPr/>
        </p:nvSpPr>
        <p:spPr>
          <a:xfrm>
            <a:off x="419400" y="785275"/>
            <a:ext cx="8201700" cy="41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2600"/>
              <a:buFont typeface="Inter Tight Medium"/>
              <a:buChar char="●"/>
            </a:pPr>
            <a:r>
              <a:rPr lang="en" sz="2600">
                <a:solidFill>
                  <a:srgbClr val="1D1C1D"/>
                </a:solidFill>
                <a:latin typeface="Inter Tight Medium"/>
                <a:ea typeface="Inter Tight Medium"/>
                <a:cs typeface="Inter Tight Medium"/>
                <a:sym typeface="Inter Tight Medium"/>
              </a:rPr>
              <a:t>Read the contribution guide first!</a:t>
            </a:r>
            <a:endParaRPr sz="2600">
              <a:solidFill>
                <a:srgbClr val="1D1C1D"/>
              </a:solidFill>
              <a:latin typeface="Inter Tight Medium"/>
              <a:ea typeface="Inter Tight Medium"/>
              <a:cs typeface="Inter Tight Medium"/>
              <a:sym typeface="Inter Tight Medium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rgbClr val="1D1C1D"/>
              </a:solidFill>
              <a:latin typeface="Inter Tight Medium"/>
              <a:ea typeface="Inter Tight Medium"/>
              <a:cs typeface="Inter Tight Medium"/>
              <a:sym typeface="Inter Tight Medium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2600"/>
              <a:buFont typeface="Inter Tight Medium"/>
              <a:buChar char="●"/>
            </a:pPr>
            <a:r>
              <a:rPr lang="en" sz="2600">
                <a:solidFill>
                  <a:srgbClr val="1D1C1D"/>
                </a:solidFill>
                <a:latin typeface="Inter Tight Medium"/>
                <a:ea typeface="Inter Tight Medium"/>
                <a:cs typeface="Inter Tight Medium"/>
                <a:sym typeface="Inter Tight Medium"/>
              </a:rPr>
              <a:t>If you notice a bug or doc issue, create an issue first and ask to be assigned to it.</a:t>
            </a:r>
            <a:endParaRPr sz="2600">
              <a:solidFill>
                <a:srgbClr val="1D1C1D"/>
              </a:solidFill>
              <a:latin typeface="Inter Tight Medium"/>
              <a:ea typeface="Inter Tight Medium"/>
              <a:cs typeface="Inter Tight Medium"/>
              <a:sym typeface="Inter Tight Medium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rgbClr val="1D1C1D"/>
              </a:solidFill>
              <a:latin typeface="Inter Tight Medium"/>
              <a:ea typeface="Inter Tight Medium"/>
              <a:cs typeface="Inter Tight Medium"/>
              <a:sym typeface="Inter Tight Medium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2600"/>
              <a:buFont typeface="Inter Tight Medium"/>
              <a:buChar char="●"/>
            </a:pPr>
            <a:r>
              <a:rPr lang="en" sz="2600">
                <a:solidFill>
                  <a:srgbClr val="1D1C1D"/>
                </a:solidFill>
                <a:latin typeface="Inter Tight Medium"/>
                <a:ea typeface="Inter Tight Medium"/>
                <a:cs typeface="Inter Tight Medium"/>
                <a:sym typeface="Inter Tight Medium"/>
              </a:rPr>
              <a:t>Make meaningful contributions even as you take baby steps.</a:t>
            </a:r>
            <a:endParaRPr sz="2600">
              <a:solidFill>
                <a:srgbClr val="1D1C1D"/>
              </a:solidFill>
              <a:latin typeface="Inter Tight Medium"/>
              <a:ea typeface="Inter Tight Medium"/>
              <a:cs typeface="Inter Tight Medium"/>
              <a:sym typeface="Inter Tight Medium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rgbClr val="1D1C1D"/>
              </a:solidFill>
              <a:latin typeface="Inter Tight Medium"/>
              <a:ea typeface="Inter Tight Medium"/>
              <a:cs typeface="Inter Tight Medium"/>
              <a:sym typeface="Inter Tight Medium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2600"/>
              <a:buFont typeface="Inter Tight Medium"/>
              <a:buChar char="●"/>
            </a:pPr>
            <a:r>
              <a:rPr lang="en" sz="2600">
                <a:solidFill>
                  <a:srgbClr val="1D1C1D"/>
                </a:solidFill>
                <a:latin typeface="Inter Tight Medium"/>
                <a:ea typeface="Inter Tight Medium"/>
                <a:cs typeface="Inter Tight Medium"/>
                <a:sym typeface="Inter Tight Medium"/>
              </a:rPr>
              <a:t>Respect maintainers’ time. Be patient.</a:t>
            </a:r>
            <a:endParaRPr sz="2600">
              <a:solidFill>
                <a:srgbClr val="1D1C1D"/>
              </a:solidFill>
              <a:latin typeface="Inter Tight Medium"/>
              <a:ea typeface="Inter Tight Medium"/>
              <a:cs typeface="Inter Tight Medium"/>
              <a:sym typeface="Inter Tigh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rgbClr val="1D1C1D"/>
              </a:solidFill>
              <a:latin typeface="Inter Tight Medium"/>
              <a:ea typeface="Inter Tight Medium"/>
              <a:cs typeface="Inter Tight Medium"/>
              <a:sym typeface="Inter Tight Medium"/>
            </a:endParaRPr>
          </a:p>
        </p:txBody>
      </p:sp>
      <p:sp>
        <p:nvSpPr>
          <p:cNvPr id="115" name="Google Shape;115;p21"/>
          <p:cNvSpPr txBox="1"/>
          <p:nvPr/>
        </p:nvSpPr>
        <p:spPr>
          <a:xfrm>
            <a:off x="634350" y="159675"/>
            <a:ext cx="8448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1D1C1D"/>
                </a:solidFill>
                <a:latin typeface="Inter Tight"/>
                <a:ea typeface="Inter Tight"/>
                <a:cs typeface="Inter Tight"/>
                <a:sym typeface="Inter Tight"/>
              </a:rPr>
              <a:t>How to get started contributing to OS Docs</a:t>
            </a:r>
            <a:endParaRPr b="1" sz="3200">
              <a:solidFill>
                <a:srgbClr val="1D1C1D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/>
          <p:nvPr/>
        </p:nvSpPr>
        <p:spPr>
          <a:xfrm>
            <a:off x="2867925" y="1831350"/>
            <a:ext cx="2676900" cy="17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200">
                <a:solidFill>
                  <a:srgbClr val="151B3D"/>
                </a:solidFill>
                <a:latin typeface="Inter Tight ExtraBold"/>
                <a:ea typeface="Inter Tight ExtraBold"/>
                <a:cs typeface="Inter Tight ExtraBold"/>
                <a:sym typeface="Inter Tight ExtraBold"/>
              </a:rPr>
              <a:t>THANK YOU </a:t>
            </a:r>
            <a:r>
              <a:rPr lang="en" sz="5200">
                <a:solidFill>
                  <a:srgbClr val="D51C5A"/>
                </a:solidFill>
                <a:latin typeface="Inter Tight ExtraBold"/>
                <a:ea typeface="Inter Tight ExtraBold"/>
                <a:cs typeface="Inter Tight ExtraBold"/>
                <a:sym typeface="Inter Tight ExtraBold"/>
              </a:rPr>
              <a:t>:)</a:t>
            </a:r>
            <a:endParaRPr sz="5200">
              <a:solidFill>
                <a:srgbClr val="D51C5A"/>
              </a:solidFill>
              <a:latin typeface="Inter Tight ExtraBold"/>
              <a:ea typeface="Inter Tight ExtraBold"/>
              <a:cs typeface="Inter Tight ExtraBold"/>
              <a:sym typeface="Inter Tight Extra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