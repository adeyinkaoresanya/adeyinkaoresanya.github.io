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7" r:id="rId5"/>
    <p:sldId id="271" r:id="rId6"/>
    <p:sldId id="270" r:id="rId7"/>
    <p:sldId id="269" r:id="rId8"/>
    <p:sldId id="272" r:id="rId9"/>
    <p:sldId id="273" r:id="rId10"/>
    <p:sldId id="266" r:id="rId11"/>
  </p:sldIdLst>
  <p:sldSz cx="24384000" cy="13716000"/>
  <p:notesSz cx="6858000" cy="9144000"/>
  <p:embeddedFontLst>
    <p:embeddedFont>
      <p:font typeface="Arimo" panose="020B0604020202020204" charset="0"/>
      <p:regular r:id="rId13"/>
    </p:embeddedFont>
    <p:embeddedFont>
      <p:font typeface="Mona-Sans 1" panose="020B0604020202020204" charset="0"/>
      <p:regular r:id="rId14"/>
    </p:embeddedFont>
    <p:embeddedFont>
      <p:font typeface="Mona-Sans 2" panose="020B0604020202020204" charset="0"/>
      <p:regular r:id="rId15"/>
    </p:embeddedFont>
    <p:embeddedFont>
      <p:font typeface="Mona-Sans 3" panose="020B0604020202020204" charset="0"/>
      <p:regular r:id="rId16"/>
    </p:embeddedFont>
  </p:embeddedFontLst>
  <p:defaultTextStyle>
    <a:defPPr>
      <a:defRPr lang="en-US"/>
    </a:defPPr>
    <a:lvl1pPr marL="0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51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29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04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880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055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233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408" algn="l" defTabSz="914351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834" y="96"/>
      </p:cViewPr>
      <p:guideLst>
        <p:guide orient="horz" pos="2160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1C002-3A86-470A-B87B-5FC5919B752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31338-AB2D-47E0-A8FE-D5FF4DAE0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1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29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4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0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55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3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08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31338-AB2D-47E0-A8FE-D5FF4DAE0B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0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7"/>
            <a:ext cx="7772400" cy="14700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7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2"/>
            <a:ext cx="7772400" cy="15001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600200"/>
            <a:ext cx="4038599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00200"/>
            <a:ext cx="4038599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0"/>
            <a:ext cx="3008312" cy="46910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1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1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2" y="274639"/>
            <a:ext cx="2057400" cy="58515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199" y="274639"/>
            <a:ext cx="6019800" cy="58515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59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600200"/>
            <a:ext cx="8229599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599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1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2697"/>
            <a:ext cx="24384000" cy="11671297"/>
          </a:xfrm>
          <a:custGeom>
            <a:avLst/>
            <a:gdLst/>
            <a:ahLst/>
            <a:cxnLst/>
            <a:rect l="l" t="t" r="r" b="b"/>
            <a:pathLst>
              <a:path w="24384000" h="11671297">
                <a:moveTo>
                  <a:pt x="0" y="0"/>
                </a:moveTo>
                <a:lnTo>
                  <a:pt x="24384000" y="0"/>
                </a:lnTo>
                <a:lnTo>
                  <a:pt x="24384000" y="11671297"/>
                </a:lnTo>
                <a:lnTo>
                  <a:pt x="0" y="1167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31061" y="12629019"/>
            <a:ext cx="3834554" cy="639532"/>
          </a:xfrm>
          <a:custGeom>
            <a:avLst/>
            <a:gdLst/>
            <a:ahLst/>
            <a:cxnLst/>
            <a:rect l="l" t="t" r="r" b="b"/>
            <a:pathLst>
              <a:path w="3834554" h="639532">
                <a:moveTo>
                  <a:pt x="0" y="0"/>
                </a:moveTo>
                <a:lnTo>
                  <a:pt x="3834554" y="0"/>
                </a:lnTo>
                <a:lnTo>
                  <a:pt x="3834554" y="639532"/>
                </a:lnTo>
                <a:lnTo>
                  <a:pt x="0" y="639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609" y="12344400"/>
            <a:ext cx="9175185" cy="1308097"/>
          </a:xfrm>
          <a:custGeom>
            <a:avLst/>
            <a:gdLst/>
            <a:ahLst/>
            <a:cxnLst/>
            <a:rect l="l" t="t" r="r" b="b"/>
            <a:pathLst>
              <a:path w="9175185" h="1308097">
                <a:moveTo>
                  <a:pt x="0" y="0"/>
                </a:moveTo>
                <a:lnTo>
                  <a:pt x="9175185" y="0"/>
                </a:lnTo>
                <a:lnTo>
                  <a:pt x="9175185" y="1308097"/>
                </a:lnTo>
                <a:lnTo>
                  <a:pt x="0" y="1308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948" t="-798" b="-79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743487" y="12527118"/>
            <a:ext cx="3636429" cy="58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41"/>
              </a:lnSpc>
            </a:pPr>
            <a:r>
              <a:rPr lang="en-US" sz="3744">
                <a:solidFill>
                  <a:srgbClr val="FFFFFF"/>
                </a:solidFill>
                <a:latin typeface="Mona-Sans 1"/>
                <a:ea typeface="Mona-Sans 1"/>
                <a:cs typeface="Mona-Sans 1"/>
                <a:sym typeface="Mona-Sans 1"/>
              </a:rPr>
              <a:t>November 14, 2024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89189" y="12154725"/>
            <a:ext cx="5539997" cy="1176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Mona-Sans 1"/>
                <a:ea typeface="Mona-Sans 1"/>
                <a:cs typeface="Mona-Sans 1"/>
                <a:sym typeface="Mona-Sans 1"/>
              </a:rPr>
              <a:t>Streaming on: GH.IO/CONSTELLATION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683853" y="12268200"/>
            <a:ext cx="4371897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36"/>
              </a:lnSpc>
            </a:pPr>
            <a:r>
              <a:rPr lang="en-US" sz="3499">
                <a:solidFill>
                  <a:srgbClr val="FFFFFF"/>
                </a:solidFill>
                <a:latin typeface="Mona-Sans 1"/>
                <a:ea typeface="Mona-Sans 1"/>
                <a:cs typeface="Mona-Sans 1"/>
                <a:sym typeface="Mona-Sans 1"/>
              </a:rPr>
              <a:t>THE GALLERIA JOHANNESBURG, 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0815" y="12697"/>
            <a:ext cx="11139084" cy="13703303"/>
          </a:xfrm>
          <a:custGeom>
            <a:avLst/>
            <a:gdLst/>
            <a:ahLst/>
            <a:cxnLst/>
            <a:rect l="l" t="t" r="r" b="b"/>
            <a:pathLst>
              <a:path w="11139084" h="13703303">
                <a:moveTo>
                  <a:pt x="0" y="0"/>
                </a:moveTo>
                <a:lnTo>
                  <a:pt x="11139083" y="0"/>
                </a:lnTo>
                <a:lnTo>
                  <a:pt x="11139083" y="13703303"/>
                </a:lnTo>
                <a:lnTo>
                  <a:pt x="0" y="13703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1890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849648" y="10590617"/>
            <a:ext cx="9212381" cy="226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65"/>
              </a:lnSpc>
            </a:pPr>
            <a:r>
              <a:rPr lang="en-US" sz="4553" dirty="0">
                <a:solidFill>
                  <a:srgbClr val="D9D9D9"/>
                </a:solidFill>
                <a:latin typeface="Mona-Sans 2"/>
                <a:ea typeface="Mona-Sans 2"/>
                <a:cs typeface="Mona-Sans 2"/>
                <a:sym typeface="Mona-Sans 2"/>
              </a:rPr>
              <a:t>Adeyinka Oresanya</a:t>
            </a:r>
          </a:p>
          <a:p>
            <a:pPr algn="just">
              <a:lnSpc>
                <a:spcPts val="6465"/>
              </a:lnSpc>
            </a:pPr>
            <a:r>
              <a:rPr lang="en-US" sz="4553" dirty="0">
                <a:solidFill>
                  <a:srgbClr val="D9D9D9"/>
                </a:solidFill>
                <a:latin typeface="Mona-Sans 2"/>
                <a:ea typeface="Mona-Sans 2"/>
                <a:cs typeface="Mona-Sans 2"/>
                <a:sym typeface="Mona-Sans 2"/>
              </a:rPr>
              <a:t>@AYK_dev</a:t>
            </a:r>
          </a:p>
          <a:p>
            <a:pPr algn="just">
              <a:lnSpc>
                <a:spcPts val="5365"/>
              </a:lnSpc>
            </a:pPr>
            <a:r>
              <a:rPr lang="en-US" sz="3778" dirty="0">
                <a:solidFill>
                  <a:srgbClr val="D9D9D9"/>
                </a:solidFill>
                <a:latin typeface="Mona-Sans 2"/>
                <a:ea typeface="Mona-Sans 2"/>
                <a:cs typeface="Mona-Sans 2"/>
                <a:sym typeface="Mona-Sans 2"/>
              </a:rPr>
              <a:t>Technical Lead, CHAOSS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06200" y="1100358"/>
            <a:ext cx="11920426" cy="871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639"/>
              </a:lnSpc>
            </a:pPr>
            <a:r>
              <a:rPr lang="en-US" sz="11300" dirty="0">
                <a:solidFill>
                  <a:srgbClr val="FFFFFF"/>
                </a:solidFill>
                <a:latin typeface="Mona-Sans 3"/>
                <a:ea typeface="Mona-Sans 3"/>
                <a:cs typeface="Mona-Sans 3"/>
                <a:sym typeface="Mona-Sans 3"/>
              </a:rPr>
              <a:t>Transform your Development Workflows with GitHub </a:t>
            </a:r>
            <a:r>
              <a:rPr lang="en-US" sz="11300" dirty="0">
                <a:solidFill>
                  <a:srgbClr val="FF3399"/>
                </a:solidFill>
                <a:latin typeface="Mona-Sans 3"/>
                <a:ea typeface="Mona-Sans 3"/>
                <a:cs typeface="Mona-Sans 3"/>
                <a:sym typeface="Mona-Sans 3"/>
              </a:rPr>
              <a:t>Copilot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840827" y="10513015"/>
            <a:ext cx="2496242" cy="2496242"/>
            <a:chOff x="0" y="0"/>
            <a:chExt cx="2235200" cy="2235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5200" cy="2235200"/>
            </a:xfrm>
            <a:custGeom>
              <a:avLst/>
              <a:gdLst/>
              <a:ahLst/>
              <a:cxnLst/>
              <a:rect l="l" t="t" r="r" b="b"/>
              <a:pathLst>
                <a:path w="2235200" h="2235200">
                  <a:moveTo>
                    <a:pt x="1116838" y="0"/>
                  </a:moveTo>
                  <a:cubicBezTo>
                    <a:pt x="499999" y="381"/>
                    <a:pt x="0" y="500634"/>
                    <a:pt x="0" y="1117600"/>
                  </a:cubicBezTo>
                  <a:cubicBezTo>
                    <a:pt x="0" y="1734820"/>
                    <a:pt x="500380" y="2235200"/>
                    <a:pt x="1117600" y="2235200"/>
                  </a:cubicBezTo>
                  <a:cubicBezTo>
                    <a:pt x="1734566" y="2235200"/>
                    <a:pt x="2234819" y="1735201"/>
                    <a:pt x="2235200" y="1118362"/>
                  </a:cubicBezTo>
                  <a:lnTo>
                    <a:pt x="2235200" y="1118362"/>
                  </a:lnTo>
                  <a:lnTo>
                    <a:pt x="2235200" y="1117219"/>
                  </a:lnTo>
                  <a:lnTo>
                    <a:pt x="2235200" y="1117219"/>
                  </a:lnTo>
                  <a:cubicBezTo>
                    <a:pt x="2235073" y="500507"/>
                    <a:pt x="1735201" y="381"/>
                    <a:pt x="11183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07200" y="12649200"/>
            <a:ext cx="4127497" cy="520703"/>
          </a:xfrm>
          <a:custGeom>
            <a:avLst/>
            <a:gdLst/>
            <a:ahLst/>
            <a:cxnLst/>
            <a:rect l="l" t="t" r="r" b="b"/>
            <a:pathLst>
              <a:path w="4127497" h="520703">
                <a:moveTo>
                  <a:pt x="0" y="0"/>
                </a:moveTo>
                <a:lnTo>
                  <a:pt x="4127497" y="0"/>
                </a:lnTo>
                <a:lnTo>
                  <a:pt x="4127497" y="520703"/>
                </a:lnTo>
                <a:lnTo>
                  <a:pt x="0" y="52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6" b="-82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08718" y="1676400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What is GitHub Copilot?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5C2E5-2B89-EDA4-BD38-A42D06298157}"/>
              </a:ext>
            </a:extLst>
          </p:cNvPr>
          <p:cNvSpPr txBox="1"/>
          <p:nvPr/>
        </p:nvSpPr>
        <p:spPr>
          <a:xfrm>
            <a:off x="1108718" y="4191000"/>
            <a:ext cx="215988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Generative AI </a:t>
            </a: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coding assistant developed by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GitHub</a:t>
            </a: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and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OpenA</a:t>
            </a: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I for developers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Released in 2021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formerly powered by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GPT-4 model </a:t>
            </a: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but now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multi-model (GPT-4o,o1-preview, o1-mini,  Claude 3.5 sonnet 3.5, Gemini 1.5 Pro) </a:t>
            </a:r>
            <a:endParaRPr lang="en-US" sz="5400" dirty="0">
              <a:solidFill>
                <a:srgbClr val="FF3399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85771-C4D0-6444-BF56-DEF2BAB5D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A7D6EA-64E8-AD1B-FA40-71BF1CD43337}"/>
              </a:ext>
            </a:extLst>
          </p:cNvPr>
          <p:cNvSpPr/>
          <p:nvPr/>
        </p:nvSpPr>
        <p:spPr>
          <a:xfrm>
            <a:off x="19507200" y="12649200"/>
            <a:ext cx="4127497" cy="520703"/>
          </a:xfrm>
          <a:custGeom>
            <a:avLst/>
            <a:gdLst/>
            <a:ahLst/>
            <a:cxnLst/>
            <a:rect l="l" t="t" r="r" b="b"/>
            <a:pathLst>
              <a:path w="4127497" h="520703">
                <a:moveTo>
                  <a:pt x="0" y="0"/>
                </a:moveTo>
                <a:lnTo>
                  <a:pt x="4127497" y="0"/>
                </a:lnTo>
                <a:lnTo>
                  <a:pt x="4127497" y="520703"/>
                </a:lnTo>
                <a:lnTo>
                  <a:pt x="0" y="52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6" b="-828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5F8CC2C-14CE-7E47-41B6-34B048AE27A3}"/>
              </a:ext>
            </a:extLst>
          </p:cNvPr>
          <p:cNvSpPr txBox="1"/>
          <p:nvPr/>
        </p:nvSpPr>
        <p:spPr>
          <a:xfrm>
            <a:off x="1108718" y="1752600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  <a:r>
              <a:rPr lang="en-US" sz="9600" b="1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enefits</a:t>
            </a:r>
            <a:r>
              <a:rPr lang="en-US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for developers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C5668-1BE3-2EA8-82EE-4B59F93EE95C}"/>
              </a:ext>
            </a:extLst>
          </p:cNvPr>
          <p:cNvSpPr txBox="1"/>
          <p:nvPr/>
        </p:nvSpPr>
        <p:spPr>
          <a:xfrm>
            <a:off x="1108718" y="4191000"/>
            <a:ext cx="2188079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Reduce time spent on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coding</a:t>
            </a: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,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debugging</a:t>
            </a: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and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reading documentation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Focus on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problem solving </a:t>
            </a: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and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collaboration</a:t>
            </a:r>
            <a:endParaRPr lang="en-GB" sz="54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Navigate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unfamiliar </a:t>
            </a: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coding frameworks and languages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Scale through </a:t>
            </a:r>
            <a:r>
              <a:rPr lang="en-GB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onboarding hurdles</a:t>
            </a:r>
          </a:p>
        </p:txBody>
      </p:sp>
    </p:spTree>
    <p:extLst>
      <p:ext uri="{BB962C8B-B14F-4D97-AF65-F5344CB8AC3E}">
        <p14:creationId xmlns:p14="http://schemas.microsoft.com/office/powerpoint/2010/main" val="319909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B175F-18CB-2D7F-5BE9-E3E5E8D1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AF7357-C293-060F-5ADC-386738CFB44D}"/>
              </a:ext>
            </a:extLst>
          </p:cNvPr>
          <p:cNvSpPr/>
          <p:nvPr/>
        </p:nvSpPr>
        <p:spPr>
          <a:xfrm>
            <a:off x="19507200" y="12649200"/>
            <a:ext cx="4127497" cy="520703"/>
          </a:xfrm>
          <a:custGeom>
            <a:avLst/>
            <a:gdLst/>
            <a:ahLst/>
            <a:cxnLst/>
            <a:rect l="l" t="t" r="r" b="b"/>
            <a:pathLst>
              <a:path w="4127497" h="520703">
                <a:moveTo>
                  <a:pt x="0" y="0"/>
                </a:moveTo>
                <a:lnTo>
                  <a:pt x="4127497" y="0"/>
                </a:lnTo>
                <a:lnTo>
                  <a:pt x="4127497" y="520703"/>
                </a:lnTo>
                <a:lnTo>
                  <a:pt x="0" y="520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26" b="-828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0ABAC3-33D6-ACED-9A7D-B60D0438EA78}"/>
              </a:ext>
            </a:extLst>
          </p:cNvPr>
          <p:cNvSpPr txBox="1"/>
          <p:nvPr/>
        </p:nvSpPr>
        <p:spPr>
          <a:xfrm>
            <a:off x="1108718" y="1752600"/>
            <a:ext cx="13858229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Copilot Features</a:t>
            </a:r>
            <a:endParaRPr lang="en-US" sz="96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C1877-BBCE-5CB2-C2AD-B79B7D950386}"/>
              </a:ext>
            </a:extLst>
          </p:cNvPr>
          <p:cNvSpPr txBox="1"/>
          <p:nvPr/>
        </p:nvSpPr>
        <p:spPr>
          <a:xfrm>
            <a:off x="749303" y="2494534"/>
            <a:ext cx="13195297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US" sz="48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Code Completion</a:t>
            </a:r>
          </a:p>
          <a:p>
            <a:pPr>
              <a:buFont typeface="+mj-lt"/>
              <a:buAutoNum type="arabicPeriod"/>
            </a:pPr>
            <a:endParaRPr lang="en-US" sz="48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US" sz="48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Copilot Chat</a:t>
            </a:r>
          </a:p>
          <a:p>
            <a:pPr>
              <a:buFont typeface="+mj-lt"/>
              <a:buAutoNum type="arabicPeriod"/>
            </a:pPr>
            <a:endParaRPr lang="en-US" sz="48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US" sz="48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Copilot in the CLI</a:t>
            </a:r>
          </a:p>
          <a:p>
            <a:pPr>
              <a:buFont typeface="+mj-lt"/>
              <a:buAutoNum type="arabicPeriod"/>
            </a:pPr>
            <a:endParaRPr lang="en-US" sz="48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US" sz="48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Copilot Pull Request Summaries</a:t>
            </a:r>
          </a:p>
          <a:p>
            <a:pPr>
              <a:buFont typeface="+mj-lt"/>
              <a:buAutoNum type="arabicPeriod"/>
            </a:pPr>
            <a:endParaRPr lang="en-US" sz="48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US" sz="48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Copilot Text Completion (Public Preview)</a:t>
            </a:r>
          </a:p>
          <a:p>
            <a:pPr>
              <a:buFont typeface="+mj-lt"/>
              <a:buAutoNum type="arabicPeriod"/>
            </a:pPr>
            <a:endParaRPr lang="en-US" sz="48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US" sz="48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GitHub Copilot Extensions (Public Preview)</a:t>
            </a:r>
          </a:p>
          <a:p>
            <a:pPr>
              <a:buFont typeface="+mj-lt"/>
              <a:buAutoNum type="arabicPeriod"/>
            </a:pPr>
            <a:endParaRPr lang="en-US" sz="4800" dirty="0">
              <a:solidFill>
                <a:schemeClr val="bg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US" sz="4800" dirty="0">
                <a:solidFill>
                  <a:schemeClr val="bg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GitHub Models (Public Preview)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F222E-85A2-28EC-7A9A-838F8FAC5EB1}"/>
              </a:ext>
            </a:extLst>
          </p:cNvPr>
          <p:cNvSpPr txBox="1"/>
          <p:nvPr/>
        </p:nvSpPr>
        <p:spPr>
          <a:xfrm>
            <a:off x="14249402" y="2971800"/>
            <a:ext cx="9918697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8. Copilot Knowledge Bases</a:t>
            </a:r>
          </a:p>
          <a:p>
            <a:endParaRPr lang="en-US" sz="4800" b="1" dirty="0">
              <a:solidFill>
                <a:srgbClr val="FF3399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 startAt="9"/>
            </a:pPr>
            <a:r>
              <a:rPr lang="en-US" sz="48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Policy Management</a:t>
            </a:r>
          </a:p>
          <a:p>
            <a:pPr>
              <a:buFont typeface="+mj-lt"/>
              <a:buAutoNum type="arabicPeriod" startAt="9"/>
            </a:pPr>
            <a:endParaRPr lang="en-US" sz="4800" dirty="0">
              <a:solidFill>
                <a:srgbClr val="FF3399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 startAt="9"/>
            </a:pPr>
            <a:r>
              <a:rPr lang="en-US" sz="48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Access Management</a:t>
            </a:r>
          </a:p>
          <a:p>
            <a:pPr>
              <a:buFont typeface="+mj-lt"/>
              <a:buAutoNum type="arabicPeriod" startAt="9"/>
            </a:pPr>
            <a:endParaRPr lang="en-US" sz="4800" dirty="0">
              <a:solidFill>
                <a:srgbClr val="FF3399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 startAt="9"/>
            </a:pPr>
            <a:r>
              <a:rPr lang="en-US" sz="48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Usage Data</a:t>
            </a:r>
          </a:p>
          <a:p>
            <a:pPr>
              <a:buFont typeface="+mj-lt"/>
              <a:buAutoNum type="arabicPeriod" startAt="9"/>
            </a:pPr>
            <a:endParaRPr lang="en-US" sz="4800" dirty="0">
              <a:solidFill>
                <a:srgbClr val="FF3399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 startAt="9"/>
            </a:pPr>
            <a:r>
              <a:rPr lang="en-US" sz="48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Audit Logs</a:t>
            </a:r>
          </a:p>
          <a:p>
            <a:pPr>
              <a:buFont typeface="+mj-lt"/>
              <a:buAutoNum type="arabicPeriod" startAt="9"/>
            </a:pPr>
            <a:endParaRPr lang="en-US" sz="4800" dirty="0">
              <a:solidFill>
                <a:srgbClr val="FF3399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>
              <a:buFont typeface="+mj-lt"/>
              <a:buAutoNum type="arabicPeriod" startAt="9"/>
            </a:pPr>
            <a:r>
              <a:rPr lang="en-US" sz="48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Exclude Files</a:t>
            </a:r>
          </a:p>
        </p:txBody>
      </p:sp>
    </p:spTree>
    <p:extLst>
      <p:ext uri="{BB962C8B-B14F-4D97-AF65-F5344CB8AC3E}">
        <p14:creationId xmlns:p14="http://schemas.microsoft.com/office/powerpoint/2010/main" val="188689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9E9DF-6A71-B0CE-B4A8-0CD2D8B60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2E5051-32ED-11A7-3107-8CFC6BBB7348}"/>
              </a:ext>
            </a:extLst>
          </p:cNvPr>
          <p:cNvSpPr/>
          <p:nvPr/>
        </p:nvSpPr>
        <p:spPr>
          <a:xfrm>
            <a:off x="19507200" y="12649200"/>
            <a:ext cx="4127497" cy="520703"/>
          </a:xfrm>
          <a:custGeom>
            <a:avLst/>
            <a:gdLst/>
            <a:ahLst/>
            <a:cxnLst/>
            <a:rect l="l" t="t" r="r" b="b"/>
            <a:pathLst>
              <a:path w="4127497" h="520703">
                <a:moveTo>
                  <a:pt x="0" y="0"/>
                </a:moveTo>
                <a:lnTo>
                  <a:pt x="4127497" y="0"/>
                </a:lnTo>
                <a:lnTo>
                  <a:pt x="4127497" y="520703"/>
                </a:lnTo>
                <a:lnTo>
                  <a:pt x="0" y="52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6" b="-828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2EE84C2-2932-D06C-EE3B-E9809AF1994A}"/>
              </a:ext>
            </a:extLst>
          </p:cNvPr>
          <p:cNvSpPr txBox="1"/>
          <p:nvPr/>
        </p:nvSpPr>
        <p:spPr>
          <a:xfrm>
            <a:off x="1108718" y="1752600"/>
            <a:ext cx="20227282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00"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How to get the most out of Copilot</a:t>
            </a:r>
            <a:endParaRPr lang="en-US" sz="96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DC090D-B0A6-FC9B-5C96-FF4B32734FF9}"/>
              </a:ext>
            </a:extLst>
          </p:cNvPr>
          <p:cNvSpPr txBox="1"/>
          <p:nvPr/>
        </p:nvSpPr>
        <p:spPr>
          <a:xfrm>
            <a:off x="1676400" y="3276601"/>
            <a:ext cx="16604455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Ask </a:t>
            </a: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code related </a:t>
            </a: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questions</a:t>
            </a: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Choose the </a:t>
            </a: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right tool </a:t>
            </a: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for the job</a:t>
            </a: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Learn the art of </a:t>
            </a: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prompt engineering</a:t>
            </a:r>
            <a:endParaRPr lang="en-US" sz="5400" dirty="0">
              <a:solidFill>
                <a:prstClr val="white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Check</a:t>
            </a: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copilot’s work before implementing it</a:t>
            </a: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Provide it with </a:t>
            </a: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helpful context</a:t>
            </a: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Rewrite your prompts </a:t>
            </a: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to generate different responses</a:t>
            </a: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Pick the best </a:t>
            </a: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available suggestion</a:t>
            </a:r>
          </a:p>
          <a:p>
            <a:pPr marL="914400" indent="-914400" defTabSz="914400">
              <a:buFont typeface="+mj-lt"/>
              <a:buAutoNum type="arabicPeriod"/>
            </a:pPr>
            <a:endParaRPr lang="en-US" sz="5400" dirty="0">
              <a:solidFill>
                <a:prstClr val="white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9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776EC-D304-60CC-1F63-3DD334BC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64C211-80E5-77B5-9992-946636F0F376}"/>
              </a:ext>
            </a:extLst>
          </p:cNvPr>
          <p:cNvSpPr/>
          <p:nvPr/>
        </p:nvSpPr>
        <p:spPr>
          <a:xfrm>
            <a:off x="19507200" y="12649200"/>
            <a:ext cx="4127497" cy="520703"/>
          </a:xfrm>
          <a:custGeom>
            <a:avLst/>
            <a:gdLst/>
            <a:ahLst/>
            <a:cxnLst/>
            <a:rect l="l" t="t" r="r" b="b"/>
            <a:pathLst>
              <a:path w="4127497" h="520703">
                <a:moveTo>
                  <a:pt x="0" y="0"/>
                </a:moveTo>
                <a:lnTo>
                  <a:pt x="4127497" y="0"/>
                </a:lnTo>
                <a:lnTo>
                  <a:pt x="4127497" y="520703"/>
                </a:lnTo>
                <a:lnTo>
                  <a:pt x="0" y="52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6" b="-828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37107F7-367D-45DE-EF16-727508F7B2B0}"/>
              </a:ext>
            </a:extLst>
          </p:cNvPr>
          <p:cNvSpPr txBox="1"/>
          <p:nvPr/>
        </p:nvSpPr>
        <p:spPr>
          <a:xfrm>
            <a:off x="1108718" y="1752600"/>
            <a:ext cx="20227282" cy="741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00">
              <a:lnSpc>
                <a:spcPts val="4800"/>
              </a:lnSpc>
            </a:pPr>
            <a:r>
              <a:rPr lang="en-GB" sz="9600" b="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How to set up copilot</a:t>
            </a:r>
            <a:endParaRPr lang="en-US" sz="9600" b="1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C253A-D5EA-E77E-5954-94C1063F5DA6}"/>
              </a:ext>
            </a:extLst>
          </p:cNvPr>
          <p:cNvSpPr txBox="1"/>
          <p:nvPr/>
        </p:nvSpPr>
        <p:spPr>
          <a:xfrm>
            <a:off x="1676400" y="3276601"/>
            <a:ext cx="166044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Have an </a:t>
            </a: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active</a:t>
            </a: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subscription</a:t>
            </a: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Have a supported IDE e.g</a:t>
            </a: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. VS Code</a:t>
            </a: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Sign in </a:t>
            </a: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to VS Code with GitHub</a:t>
            </a:r>
          </a:p>
          <a:p>
            <a:pPr marL="914400" indent="-914400" defTabSz="914400">
              <a:buFont typeface="+mj-lt"/>
              <a:buAutoNum type="arabicPeriod"/>
            </a:pPr>
            <a:r>
              <a:rPr lang="en-US" sz="5400" dirty="0">
                <a:solidFill>
                  <a:prstClr val="white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Install </a:t>
            </a:r>
            <a:r>
              <a:rPr lang="en-US" sz="5400" dirty="0">
                <a:solidFill>
                  <a:srgbClr val="FF339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Copilot extension </a:t>
            </a:r>
          </a:p>
        </p:txBody>
      </p:sp>
    </p:spTree>
    <p:extLst>
      <p:ext uri="{BB962C8B-B14F-4D97-AF65-F5344CB8AC3E}">
        <p14:creationId xmlns:p14="http://schemas.microsoft.com/office/powerpoint/2010/main" val="256189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EA5E5-6A9A-E3DD-CC1F-A0E90596F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4AC879-9435-A958-5008-DF2661F28644}"/>
              </a:ext>
            </a:extLst>
          </p:cNvPr>
          <p:cNvSpPr/>
          <p:nvPr/>
        </p:nvSpPr>
        <p:spPr>
          <a:xfrm>
            <a:off x="19507200" y="12649200"/>
            <a:ext cx="4127497" cy="520703"/>
          </a:xfrm>
          <a:custGeom>
            <a:avLst/>
            <a:gdLst/>
            <a:ahLst/>
            <a:cxnLst/>
            <a:rect l="l" t="t" r="r" b="b"/>
            <a:pathLst>
              <a:path w="4127497" h="520703">
                <a:moveTo>
                  <a:pt x="0" y="0"/>
                </a:moveTo>
                <a:lnTo>
                  <a:pt x="4127497" y="0"/>
                </a:lnTo>
                <a:lnTo>
                  <a:pt x="4127497" y="520703"/>
                </a:lnTo>
                <a:lnTo>
                  <a:pt x="0" y="52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6" b="-828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9EB4768-4746-EF63-A4E2-389A084DB6D1}"/>
              </a:ext>
            </a:extLst>
          </p:cNvPr>
          <p:cNvSpPr txBox="1"/>
          <p:nvPr/>
        </p:nvSpPr>
        <p:spPr>
          <a:xfrm>
            <a:off x="9753600" y="6425768"/>
            <a:ext cx="20227282" cy="8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00">
              <a:lnSpc>
                <a:spcPts val="4800"/>
              </a:lnSpc>
              <a:defRPr/>
            </a:pPr>
            <a:r>
              <a:rPr lang="en-GB" sz="138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Demo</a:t>
            </a:r>
            <a:endParaRPr lang="en-US" sz="138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417483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26CFE-23FB-ADB6-E125-C8527F70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27C9C8-BA7E-D277-E316-4D4FCD89A84E}"/>
              </a:ext>
            </a:extLst>
          </p:cNvPr>
          <p:cNvSpPr/>
          <p:nvPr/>
        </p:nvSpPr>
        <p:spPr>
          <a:xfrm>
            <a:off x="19507200" y="12649200"/>
            <a:ext cx="4127497" cy="520703"/>
          </a:xfrm>
          <a:custGeom>
            <a:avLst/>
            <a:gdLst/>
            <a:ahLst/>
            <a:cxnLst/>
            <a:rect l="l" t="t" r="r" b="b"/>
            <a:pathLst>
              <a:path w="4127497" h="520703">
                <a:moveTo>
                  <a:pt x="0" y="0"/>
                </a:moveTo>
                <a:lnTo>
                  <a:pt x="4127497" y="0"/>
                </a:lnTo>
                <a:lnTo>
                  <a:pt x="4127497" y="520703"/>
                </a:lnTo>
                <a:lnTo>
                  <a:pt x="0" y="52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6" b="-828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0B2D2F1-39EB-A017-3540-977455D73F8B}"/>
              </a:ext>
            </a:extLst>
          </p:cNvPr>
          <p:cNvSpPr txBox="1"/>
          <p:nvPr/>
        </p:nvSpPr>
        <p:spPr>
          <a:xfrm>
            <a:off x="9753600" y="6425768"/>
            <a:ext cx="20227282" cy="8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400">
              <a:lnSpc>
                <a:spcPts val="4800"/>
              </a:lnSpc>
              <a:defRPr/>
            </a:pPr>
            <a:r>
              <a:rPr lang="en-GB" sz="13800" b="1" dirty="0">
                <a:solidFill>
                  <a:srgbClr val="FF3399"/>
                </a:solidFill>
                <a:latin typeface="Arimo"/>
                <a:ea typeface="Arimo"/>
                <a:cs typeface="Arimo"/>
                <a:sym typeface="Arimo"/>
              </a:rPr>
              <a:t>Q &amp; A</a:t>
            </a:r>
            <a:endParaRPr lang="en-US" sz="13800" b="1" dirty="0">
              <a:solidFill>
                <a:srgbClr val="FF339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9924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2697"/>
            <a:ext cx="24384000" cy="11671297"/>
          </a:xfrm>
          <a:custGeom>
            <a:avLst/>
            <a:gdLst/>
            <a:ahLst/>
            <a:cxnLst/>
            <a:rect l="l" t="t" r="r" b="b"/>
            <a:pathLst>
              <a:path w="24384000" h="11671297">
                <a:moveTo>
                  <a:pt x="0" y="0"/>
                </a:moveTo>
                <a:lnTo>
                  <a:pt x="24384000" y="0"/>
                </a:lnTo>
                <a:lnTo>
                  <a:pt x="24384000" y="11671297"/>
                </a:lnTo>
                <a:lnTo>
                  <a:pt x="0" y="1167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328" y="12204697"/>
            <a:ext cx="9183872" cy="1308097"/>
          </a:xfrm>
          <a:custGeom>
            <a:avLst/>
            <a:gdLst/>
            <a:ahLst/>
            <a:cxnLst/>
            <a:rect l="l" t="t" r="r" b="b"/>
            <a:pathLst>
              <a:path w="9183872" h="1308097">
                <a:moveTo>
                  <a:pt x="0" y="0"/>
                </a:moveTo>
                <a:lnTo>
                  <a:pt x="9183872" y="0"/>
                </a:lnTo>
                <a:lnTo>
                  <a:pt x="9183872" y="1308097"/>
                </a:lnTo>
                <a:lnTo>
                  <a:pt x="0" y="130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41" t="-798" b="-79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251</Words>
  <Application>Microsoft Office PowerPoint</Application>
  <PresentationFormat>Custom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Arimo</vt:lpstr>
      <vt:lpstr>Calibri</vt:lpstr>
      <vt:lpstr>Arial</vt:lpstr>
      <vt:lpstr>Mona-Sans 2</vt:lpstr>
      <vt:lpstr>Mona-Sans 3</vt:lpstr>
      <vt:lpstr>Mona-Sans 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 Speaker Deck (9).pdf</dc:title>
  <cp:lastModifiedBy>Adeyinka J. Oresanya</cp:lastModifiedBy>
  <cp:revision>3</cp:revision>
  <dcterms:created xsi:type="dcterms:W3CDTF">2006-08-16T00:00:00Z</dcterms:created>
  <dcterms:modified xsi:type="dcterms:W3CDTF">2024-11-10T15:11:58Z</dcterms:modified>
  <dc:identifier>DAGUmmqmxyc</dc:identifier>
</cp:coreProperties>
</file>